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69577b6549be46f7" /><Relationship Type="http://schemas.openxmlformats.org/officeDocument/2006/relationships/extended-properties" Target="/docProps/app.xml" Id="Ra4bd4d1ae787445a" /><Relationship Type="http://schemas.openxmlformats.org/officeDocument/2006/relationships/officeDocument" Target="/ppt/presentation.xml" Id="Rf240a4c664864119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488ddef8f88b4212"/>
  </p:sldMasterIdLst>
  <p:notesMasterIdLst>
    <p:notesMasterId xmlns:r="http://schemas.openxmlformats.org/officeDocument/2006/relationships" r:id="Rbfa57240cbc3486a"/>
  </p:notesMasterIdLst>
  <p:sldIdLst>
    <p:sldId xmlns:r="http://schemas.openxmlformats.org/officeDocument/2006/relationships" id="256" r:id="R35643ebb599a4d89"/>
    <p:sldId xmlns:r="http://schemas.openxmlformats.org/officeDocument/2006/relationships" id="257" r:id="Re78f4f6ea245405f"/>
    <p:sldId xmlns:r="http://schemas.openxmlformats.org/officeDocument/2006/relationships" id="258" r:id="Ra1c5a90381e64995"/>
    <p:sldId xmlns:r="http://schemas.openxmlformats.org/officeDocument/2006/relationships" id="259" r:id="R5b11c5d489574a5d"/>
    <p:sldId xmlns:r="http://schemas.openxmlformats.org/officeDocument/2006/relationships" id="260" r:id="R5dee67892fe143fd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f7e43807209c4b83" /><Relationship Type="http://schemas.openxmlformats.org/officeDocument/2006/relationships/slideMaster" Target="/ppt/slideMasters/slideMaster1.xml" Id="R488ddef8f88b4212" /><Relationship Type="http://schemas.openxmlformats.org/officeDocument/2006/relationships/notesMaster" Target="/ppt/notesMasters/notesMaster1.xml" Id="Rbfa57240cbc3486a" /><Relationship Type="http://schemas.openxmlformats.org/officeDocument/2006/relationships/presProps" Target="/ppt/presProps.xml" Id="Rb25da964024640b2" /><Relationship Type="http://schemas.openxmlformats.org/officeDocument/2006/relationships/tableStyles" Target="/ppt/tableStyles.xml" Id="Rd7b22b3b5ffa4b24" /><Relationship Type="http://schemas.openxmlformats.org/officeDocument/2006/relationships/slide" Target="/ppt/slides/slide1.xml" Id="R35643ebb599a4d89" /><Relationship Type="http://schemas.openxmlformats.org/officeDocument/2006/relationships/slide" Target="/ppt/slides/slide2.xml" Id="Re78f4f6ea245405f" /><Relationship Type="http://schemas.openxmlformats.org/officeDocument/2006/relationships/slide" Target="/ppt/slides/slide3.xml" Id="Ra1c5a90381e64995" /><Relationship Type="http://schemas.openxmlformats.org/officeDocument/2006/relationships/slide" Target="/ppt/slides/slide4.xml" Id="R5b11c5d489574a5d" /><Relationship Type="http://schemas.openxmlformats.org/officeDocument/2006/relationships/slide" Target="/ppt/slides/slide5.xml" Id="R5dee67892fe143fd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48770ec4fe764484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6f820909afa142c8" /><Relationship Type="http://schemas.openxmlformats.org/officeDocument/2006/relationships/notesMaster" Target="/ppt/notesMasters/notesMaster1.xml" Id="Raaccec69ff044d30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1a6248f342c94d30" /><Relationship Type="http://schemas.openxmlformats.org/officeDocument/2006/relationships/notesMaster" Target="/ppt/notesMasters/notesMaster1.xml" Id="R8dded406e0974846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ea27ddca11ed4b88" /><Relationship Type="http://schemas.openxmlformats.org/officeDocument/2006/relationships/notesMaster" Target="/ppt/notesMasters/notesMaster1.xml" Id="R77854872ba7d4efc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e29867deea69486f" /><Relationship Type="http://schemas.openxmlformats.org/officeDocument/2006/relationships/notesMaster" Target="/ppt/notesMasters/notesMaster1.xml" Id="Re92e1f58730a4a90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b7e35644e41f4dbd" /><Relationship Type="http://schemas.openxmlformats.org/officeDocument/2006/relationships/notesMaster" Target="/ppt/notesMasters/notesMaster1.xml" Id="R67fbef76637242d9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Fuente: enunciado Taller_B5_T4.pdf y código del repositorio FondoClaro.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Fuente: captura propia de app.py con data/demo_funds.csv. Los nombres, identificadores y cifras de la captura son sintéticos.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Fuente: app.py, src/preferences.py, src/audio.py, src/recommender.py. El complemento de voz y el LLM son opcionales; el flujo textual funciona sin claves.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Fuentes: data/private/funds.csv generado localmente mediante scripts/import_catalog.py a partir del Markdown privado del equipo; data/demo_funds.csv; src/recommender.py. El dataset privado no se publica en GitHub.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Fuentes: README.md y enunciado Taller_B5_T4.pdf. Las afirmaciones de viabilidad son supuestos de MVP, no mediciones de producción. La regulación aplicable requiere revisión especializada antes de prestar asesoramiento.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6da65b7031740df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7bf881bd18a4b68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27e49f0927b4164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5d26967f7b947db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53d3b7efb5d4160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b2a4eb06a424426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0635E893-1876-47C3-90BF-5A9CDC9A0D3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2ECD721E-263E-4FF5-B405-7403B8F69009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9CA0C6BF-CBDF-4EFD-B9EA-2455E671C94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2CBC0F89-38A0-42D9-957E-CC9B647AB41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CA85BAFA-A903-47F4-94C3-322CD09A239A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7B4F8FCA-5D82-4FC0-86E1-A78981F7795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8D497B89-831D-4EE7-897C-F6A9B71F603C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A87C1E60-4647-4225-9B9B-3ADAD8090D26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D841EAB2-8A8F-4C49-AC2D-1552C64BC6E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9ADC0816-FBF2-4230-B1E6-60C3244BE08F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d0e3b6584f7442c3" /><Relationship Type="http://schemas.openxmlformats.org/officeDocument/2006/relationships/slideLayout" Target="/ppt/slideLayouts/slideLayout1.xml" Id="Reecdf0d94bb04faa" /><Relationship Type="http://schemas.openxmlformats.org/officeDocument/2006/relationships/slideLayout" Target="/ppt/slideLayouts/slideLayout2.xml" Id="Rd28a6abc60834fff" /><Relationship Type="http://schemas.openxmlformats.org/officeDocument/2006/relationships/slideLayout" Target="/ppt/slideLayouts/slideLayout3.xml" Id="R261bd1c9983a4923" /><Relationship Type="http://schemas.openxmlformats.org/officeDocument/2006/relationships/slideLayout" Target="/ppt/slideLayouts/slideLayout4.xml" Id="R8c40b3642e734ab2" /><Relationship Type="http://schemas.openxmlformats.org/officeDocument/2006/relationships/slideLayout" Target="/ppt/slideLayouts/slideLayout5.xml" Id="Rc5fdea5f3403489f" /><Relationship Type="http://schemas.openxmlformats.org/officeDocument/2006/relationships/slideLayout" Target="/ppt/slideLayouts/slideLayout6.xml" Id="R9611393cd4434aae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eecdf0d94bb04faa"/>
    <p:sldLayoutId xmlns:r="http://schemas.openxmlformats.org/officeDocument/2006/relationships" id="2147483650" r:id="Rd28a6abc60834fff"/>
    <p:sldLayoutId xmlns:r="http://schemas.openxmlformats.org/officeDocument/2006/relationships" id="2147483651" r:id="R261bd1c9983a4923"/>
    <p:sldLayoutId xmlns:r="http://schemas.openxmlformats.org/officeDocument/2006/relationships" id="2147483652" r:id="R8c40b3642e734ab2"/>
    <p:sldLayoutId xmlns:r="http://schemas.openxmlformats.org/officeDocument/2006/relationships" id="2147483653" r:id="Rc5fdea5f3403489f"/>
    <p:sldLayoutId xmlns:r="http://schemas.openxmlformats.org/officeDocument/2006/relationships" id="2147483654" r:id="R9611393cd4434aae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4f3cc6bac204bc9" /><Relationship Type="http://schemas.openxmlformats.org/officeDocument/2006/relationships/notesSlide" Target="/ppt/notesSlides/notesSlide1.xml" Id="Rc06a6d7093774561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6c6254fbf1f4fb1" /><Relationship Type="http://schemas.openxmlformats.org/officeDocument/2006/relationships/image" Target="/ppt/media/image.jpeg" Id="Rc28b482605a34241" /><Relationship Type="http://schemas.openxmlformats.org/officeDocument/2006/relationships/notesSlide" Target="/ppt/notesSlides/notesSlide2.xml" Id="R28e490a2ab174b88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392a0022c1c4d79" /><Relationship Type="http://schemas.openxmlformats.org/officeDocument/2006/relationships/notesSlide" Target="/ppt/notesSlides/notesSlide3.xml" Id="Rb41b1b9f7cca45a5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354c59a41794e45" /><Relationship Type="http://schemas.openxmlformats.org/officeDocument/2006/relationships/notesSlide" Target="/ppt/notesSlides/notesSlide4.xml" Id="R02a11deba09a4ddc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8f8dac94f5e4354" /><Relationship Type="http://schemas.openxmlformats.org/officeDocument/2006/relationships/notesSlide" Target="/ppt/notesSlides/notesSlide5.xml" Id="Rda5025a21d1b4efc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9FB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EE2EF7F-445D-4AC5-8641-8BA04EB7B8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543050"/>
            <a:ext cx="105727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4200" b="1">
                <a:solidFill>
                  <a:srgbClr val="173553"/>
                </a:solidFill>
              </a:defRPr>
            </a:defPPr>
          </a:lstStyle>
          <a:p xmlns:a="http://schemas.openxmlformats.org/drawingml/2006/main">
            <a:pPr>
              <a:defRPr sz="4200" b="1">
                <a:solidFill>
                  <a:srgbClr val="173553"/>
                </a:solidFill>
              </a:defRPr>
            </a:pPr>
            <a:r>
              <a:rPr sz="4200" b="1">
                <a:solidFill>
                  <a:srgbClr val="173553"/>
                </a:solidFill>
              </a:rPr>
              <a:t>FondoClaro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4CC4B7B-6935-4214-BB69-A7FE64FBFB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476500"/>
            <a:ext cx="10001250" cy="1219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550" b="0">
                <a:solidFill>
                  <a:srgbClr val="173553"/>
                </a:solidFill>
              </a:defRPr>
            </a:defPPr>
          </a:lstStyle>
          <a:p xmlns:a="http://schemas.openxmlformats.org/drawingml/2006/main">
            <a:pPr>
              <a:defRPr sz="2550" b="0">
                <a:solidFill>
                  <a:srgbClr val="173553"/>
                </a:solidFill>
              </a:defRPr>
            </a:pPr>
            <a:r>
              <a:rPr sz="2550" b="0">
                <a:solidFill>
                  <a:srgbClr val="173553"/>
                </a:solidFill>
              </a:rPr>
              <a:t>Una petición en lenguaje natural, una preselección explicable de fondos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18C3F9E-8DAC-480E-8D69-C5558FBE91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591050"/>
            <a:ext cx="9525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586A7B"/>
                </a:solidFill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586A7B"/>
                </a:solidFill>
              </a:defRPr>
            </a:pPr>
            <a:r>
              <a:rPr sz="1725" b="0">
                <a:solidFill>
                  <a:srgbClr val="586A7B"/>
                </a:solidFill>
              </a:rPr>
              <a:t>MVP multimodal · Taller B5-T4 · Octubre de 2026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E038423-1FF0-424C-8AA2-99CB2D2B12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905500"/>
            <a:ext cx="9906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586A7B"/>
                </a:solidFill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586A7B"/>
                </a:solidFill>
              </a:defRPr>
            </a:pPr>
            <a:r>
              <a:rPr sz="1350" b="0">
                <a:solidFill>
                  <a:srgbClr val="586A7B"/>
                </a:solidFill>
              </a:rPr>
              <a:t>Demostración educativa. No constituye asesoramiento de inversión.</a:t>
            </a:r>
          </a:p>
        </p:txBody>
      </p:sp>
    </p:spTree>
    <p:extLst>
      <p:ext uri="{BB962C8B-B14F-4D97-AF65-F5344CB8AC3E}">
        <p14:creationId xmlns:p14="http://schemas.microsoft.com/office/powerpoint/2010/main" val="1514900725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9FB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CBCB825-EC9B-44AA-A91D-BCAA77228C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08204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850" b="1">
                <a:solidFill>
                  <a:srgbClr val="173553"/>
                </a:solidFill>
              </a:defRPr>
            </a:defPPr>
          </a:lstStyle>
          <a:p xmlns:a="http://schemas.openxmlformats.org/drawingml/2006/main">
            <a:pPr>
              <a:defRPr sz="2850" b="1">
                <a:solidFill>
                  <a:srgbClr val="173553"/>
                </a:solidFill>
              </a:defRPr>
            </a:pPr>
            <a:r>
              <a:rPr sz="2850" b="1">
                <a:solidFill>
                  <a:srgbClr val="173553"/>
                </a:solidFill>
              </a:rPr>
              <a:t>Experiencia del usuario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A982914-ADCD-4EF5-929A-A30D3F2718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96600" y="6229350"/>
            <a:ext cx="6096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0">
                <a:solidFill>
                  <a:srgbClr val="586A7B"/>
                </a:solidFill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586A7B"/>
                </a:solidFill>
              </a:defRPr>
            </a:pPr>
            <a:r>
              <a:rPr sz="1275" b="0">
                <a:solidFill>
                  <a:srgbClr val="586A7B"/>
                </a:solidFill>
              </a:rPr>
              <a:t>02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7228DC3-CEB1-411F-891C-9AAB6FFEE3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62100"/>
            <a:ext cx="5429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586A7B"/>
                </a:solidFill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586A7B"/>
                </a:solidFill>
              </a:defRPr>
            </a:pPr>
            <a:r>
              <a:rPr sz="1725" b="0">
                <a:solidFill>
                  <a:srgbClr val="586A7B"/>
                </a:solidFill>
              </a:rPr>
              <a:t>1. Describe lo que busca por escrito o con voz.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E64505F-365B-46FE-8077-802A957D03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81250"/>
            <a:ext cx="5429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586A7B"/>
                </a:solidFill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586A7B"/>
                </a:solidFill>
              </a:defRPr>
            </a:pPr>
            <a:r>
              <a:rPr sz="1725" b="0">
                <a:solidFill>
                  <a:srgbClr val="586A7B"/>
                </a:solidFill>
              </a:rPr>
              <a:t>2. Revisa horizonte, riesgo y divisa detectados.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36B0B56-B821-4D0A-BF78-960F125DE8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33750"/>
            <a:ext cx="5429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586A7B"/>
                </a:solidFill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586A7B"/>
                </a:solidFill>
              </a:defRPr>
            </a:pPr>
            <a:r>
              <a:rPr sz="1725" b="0">
                <a:solidFill>
                  <a:srgbClr val="586A7B"/>
                </a:solidFill>
              </a:rPr>
              <a:t>3. Compara candidatos, métricas y motivos.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791B47B-BF11-45F7-AEFB-A923F3E2B3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81600"/>
            <a:ext cx="5334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75" b="0">
                <a:solidFill>
                  <a:srgbClr val="087F8C"/>
                </a:solidFill>
              </a:defRPr>
            </a:defPPr>
          </a:lstStyle>
          <a:p xmlns:a="http://schemas.openxmlformats.org/drawingml/2006/main">
            <a:pPr>
              <a:defRPr sz="1575" b="0">
                <a:solidFill>
                  <a:srgbClr val="087F8C"/>
                </a:solidFill>
              </a:defRPr>
            </a:pPr>
            <a:r>
              <a:rPr sz="1575" b="0">
                <a:solidFill>
                  <a:srgbClr val="087F8C"/>
                </a:solidFill>
              </a:rPr>
              <a:t>La captura usa diez fondos ficticios del repositorio.</a:t>
            </a:r>
          </a:p>
        </p:txBody>
      </p:sp>
      <p:pic>
        <p:nvPic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0CC2386-6FEF-42A0-8353-30BF42106426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28b482605a34241"/>
          <a:stretch xmlns:a="http://schemas.openxmlformats.org/drawingml/2006/main"/>
        </p:blipFill>
        <p:spPr>
          <a:xfrm xmlns:a="http://schemas.openxmlformats.org/drawingml/2006/main">
            <a:off x="7248560" y="1371600"/>
            <a:ext cx="2838381" cy="4810125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89849249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9FB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50B757E-B385-4EC0-9ADD-78CD788416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08204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850" b="1">
                <a:solidFill>
                  <a:srgbClr val="173553"/>
                </a:solidFill>
              </a:defRPr>
            </a:defPPr>
          </a:lstStyle>
          <a:p xmlns:a="http://schemas.openxmlformats.org/drawingml/2006/main">
            <a:pPr>
              <a:defRPr sz="2850" b="1">
                <a:solidFill>
                  <a:srgbClr val="173553"/>
                </a:solidFill>
              </a:defRPr>
            </a:pPr>
            <a:r>
              <a:rPr sz="2850" b="1">
                <a:solidFill>
                  <a:srgbClr val="173553"/>
                </a:solidFill>
              </a:rPr>
              <a:t>Arquitectura y orquestación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4D1D73F-C17F-4EE1-A210-6375AC4949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96600" y="6229350"/>
            <a:ext cx="6096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0">
                <a:solidFill>
                  <a:srgbClr val="586A7B"/>
                </a:solidFill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586A7B"/>
                </a:solidFill>
              </a:defRPr>
            </a:pPr>
            <a:r>
              <a:rPr sz="1275" b="0">
                <a:solidFill>
                  <a:srgbClr val="586A7B"/>
                </a:solidFill>
              </a:rPr>
              <a:t>03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B2A21B6-D5EA-437E-8EBF-99BE7E1717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1905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625" b="1">
                <a:solidFill>
                  <a:srgbClr val="087F8C"/>
                </a:solidFill>
              </a:defRPr>
            </a:defPPr>
          </a:lstStyle>
          <a:p xmlns:a="http://schemas.openxmlformats.org/drawingml/2006/main">
            <a:pPr>
              <a:defRPr sz="2625" b="1">
                <a:solidFill>
                  <a:srgbClr val="087F8C"/>
                </a:solidFill>
              </a:defRPr>
            </a:pPr>
            <a:r>
              <a:rPr sz="2625" b="1">
                <a:solidFill>
                  <a:srgbClr val="087F8C"/>
                </a:solidFill>
              </a:rPr>
              <a:t>01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BA6D973-C681-457F-948D-6DCCC817AE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14600"/>
            <a:ext cx="2190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1">
                <a:solidFill>
                  <a:srgbClr val="173553"/>
                </a:solidFill>
              </a:defRPr>
            </a:defPPr>
          </a:lstStyle>
          <a:p xmlns:a="http://schemas.openxmlformats.org/drawingml/2006/main">
            <a:pPr>
              <a:defRPr sz="2175" b="1">
                <a:solidFill>
                  <a:srgbClr val="173553"/>
                </a:solidFill>
              </a:defRPr>
            </a:pPr>
            <a:r>
              <a:rPr sz="2175" b="1">
                <a:solidFill>
                  <a:srgbClr val="173553"/>
                </a:solidFill>
              </a:rPr>
              <a:t>Entrada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BDD71AC-3442-49C1-8C17-BA167AB9D4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19450"/>
            <a:ext cx="228600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75" b="0">
                <a:solidFill>
                  <a:srgbClr val="586A7B"/>
                </a:solidFill>
              </a:defRPr>
            </a:defPPr>
          </a:lstStyle>
          <a:p xmlns:a="http://schemas.openxmlformats.org/drawingml/2006/main">
            <a:pPr>
              <a:defRPr sz="1575" b="0">
                <a:solidFill>
                  <a:srgbClr val="586A7B"/>
                </a:solidFill>
              </a:defRPr>
            </a:pPr>
            <a:r>
              <a:rPr sz="1575" b="0">
                <a:solidFill>
                  <a:srgbClr val="586A7B"/>
                </a:solidFill>
              </a:rPr>
              <a:t>Texto en español</a:t>
            </a:r>
          </a:p>
          <a:p xmlns:a="http://schemas.openxmlformats.org/drawingml/2006/main">
            <a:pPr>
              <a:defRPr sz="1575" b="0">
                <a:solidFill>
                  <a:srgbClr val="586A7B"/>
                </a:solidFill>
              </a:defRPr>
            </a:pPr>
            <a:r>
              <a:rPr sz="1575" b="0">
                <a:solidFill>
                  <a:srgbClr val="586A7B"/>
                </a:solidFill>
              </a:rPr>
              <a:t>Audio con Whisper local opcional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6829F5D-D1C6-489E-A636-2A0BFD669E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1809750"/>
            <a:ext cx="1905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625" b="1">
                <a:solidFill>
                  <a:srgbClr val="087F8C"/>
                </a:solidFill>
              </a:defRPr>
            </a:defPPr>
          </a:lstStyle>
          <a:p xmlns:a="http://schemas.openxmlformats.org/drawingml/2006/main">
            <a:pPr>
              <a:defRPr sz="2625" b="1">
                <a:solidFill>
                  <a:srgbClr val="087F8C"/>
                </a:solidFill>
              </a:defRPr>
            </a:pPr>
            <a:r>
              <a:rPr sz="2625" b="1">
                <a:solidFill>
                  <a:srgbClr val="087F8C"/>
                </a:solidFill>
              </a:rPr>
              <a:t>02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0FD1DF8-B2D0-499B-992E-05A11B8C5F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2514600"/>
            <a:ext cx="2190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1">
                <a:solidFill>
                  <a:srgbClr val="173553"/>
                </a:solidFill>
              </a:defRPr>
            </a:defPPr>
          </a:lstStyle>
          <a:p xmlns:a="http://schemas.openxmlformats.org/drawingml/2006/main">
            <a:pPr>
              <a:defRPr sz="2175" b="1">
                <a:solidFill>
                  <a:srgbClr val="173553"/>
                </a:solidFill>
              </a:defRPr>
            </a:pPr>
            <a:r>
              <a:rPr sz="2175" b="1">
                <a:solidFill>
                  <a:srgbClr val="173553"/>
                </a:solidFill>
              </a:rPr>
              <a:t>Interpretación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0B6D883-380F-4360-8406-9D3EBB05CD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3219450"/>
            <a:ext cx="228600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75" b="0">
                <a:solidFill>
                  <a:srgbClr val="586A7B"/>
                </a:solidFill>
              </a:defRPr>
            </a:defPPr>
          </a:lstStyle>
          <a:p xmlns:a="http://schemas.openxmlformats.org/drawingml/2006/main">
            <a:pPr>
              <a:defRPr sz="1575" b="0">
                <a:solidFill>
                  <a:srgbClr val="586A7B"/>
                </a:solidFill>
              </a:defRPr>
            </a:pPr>
            <a:r>
              <a:rPr sz="1575" b="0">
                <a:solidFill>
                  <a:srgbClr val="586A7B"/>
                </a:solidFill>
              </a:rPr>
              <a:t>Reglas locales</a:t>
            </a:r>
          </a:p>
          <a:p xmlns:a="http://schemas.openxmlformats.org/drawingml/2006/main">
            <a:pPr>
              <a:defRPr sz="1575" b="0">
                <a:solidFill>
                  <a:srgbClr val="586A7B"/>
                </a:solidFill>
              </a:defRPr>
            </a:pPr>
            <a:r>
              <a:rPr sz="1575" b="0">
                <a:solidFill>
                  <a:srgbClr val="586A7B"/>
                </a:solidFill>
              </a:rPr>
              <a:t>LLM opcional para extraer parámetros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19B1CD7-863D-4499-BEF5-1696ED517A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809750"/>
            <a:ext cx="1905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625" b="1">
                <a:solidFill>
                  <a:srgbClr val="087F8C"/>
                </a:solidFill>
              </a:defRPr>
            </a:defPPr>
          </a:lstStyle>
          <a:p xmlns:a="http://schemas.openxmlformats.org/drawingml/2006/main">
            <a:pPr>
              <a:defRPr sz="2625" b="1">
                <a:solidFill>
                  <a:srgbClr val="087F8C"/>
                </a:solidFill>
              </a:defRPr>
            </a:pPr>
            <a:r>
              <a:rPr sz="2625" b="1">
                <a:solidFill>
                  <a:srgbClr val="087F8C"/>
                </a:solidFill>
              </a:rPr>
              <a:t>03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605814B-9DA2-484F-AD08-3B28CE2BEA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514600"/>
            <a:ext cx="2190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1">
                <a:solidFill>
                  <a:srgbClr val="173553"/>
                </a:solidFill>
              </a:defRPr>
            </a:defPPr>
          </a:lstStyle>
          <a:p xmlns:a="http://schemas.openxmlformats.org/drawingml/2006/main">
            <a:pPr>
              <a:defRPr sz="2175" b="1">
                <a:solidFill>
                  <a:srgbClr val="173553"/>
                </a:solidFill>
              </a:defRPr>
            </a:pPr>
            <a:r>
              <a:rPr sz="2175" b="1">
                <a:solidFill>
                  <a:srgbClr val="173553"/>
                </a:solidFill>
              </a:rPr>
              <a:t>Decisión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1AF0807-9FCF-464D-8190-3C9BB08E6A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219450"/>
            <a:ext cx="228600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75" b="0">
                <a:solidFill>
                  <a:srgbClr val="586A7B"/>
                </a:solidFill>
              </a:defRPr>
            </a:defPPr>
          </a:lstStyle>
          <a:p xmlns:a="http://schemas.openxmlformats.org/drawingml/2006/main">
            <a:pPr>
              <a:defRPr sz="1575" b="0">
                <a:solidFill>
                  <a:srgbClr val="586A7B"/>
                </a:solidFill>
              </a:defRPr>
            </a:pPr>
            <a:r>
              <a:rPr sz="1575" b="0">
                <a:solidFill>
                  <a:srgbClr val="586A7B"/>
                </a:solidFill>
              </a:rPr>
              <a:t>Confirmación del perfil</a:t>
            </a:r>
          </a:p>
          <a:p xmlns:a="http://schemas.openxmlformats.org/drawingml/2006/main">
            <a:pPr>
              <a:defRPr sz="1575" b="0">
                <a:solidFill>
                  <a:srgbClr val="586A7B"/>
                </a:solidFill>
              </a:defRPr>
            </a:pPr>
            <a:r>
              <a:rPr sz="1575" b="0">
                <a:solidFill>
                  <a:srgbClr val="586A7B"/>
                </a:solidFill>
              </a:rPr>
              <a:t>Filtros y ranking deterministas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EDF948B-831B-4DAB-951E-1CB0FDC7B5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1809750"/>
            <a:ext cx="1905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625" b="1">
                <a:solidFill>
                  <a:srgbClr val="087F8C"/>
                </a:solidFill>
              </a:defRPr>
            </a:defPPr>
          </a:lstStyle>
          <a:p xmlns:a="http://schemas.openxmlformats.org/drawingml/2006/main">
            <a:pPr>
              <a:defRPr sz="2625" b="1">
                <a:solidFill>
                  <a:srgbClr val="087F8C"/>
                </a:solidFill>
              </a:defRPr>
            </a:pPr>
            <a:r>
              <a:rPr sz="2625" b="1">
                <a:solidFill>
                  <a:srgbClr val="087F8C"/>
                </a:solidFill>
              </a:rPr>
              <a:t>04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A1641C6-F92F-4EF1-911A-7D9989AADA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2514600"/>
            <a:ext cx="2190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1">
                <a:solidFill>
                  <a:srgbClr val="173553"/>
                </a:solidFill>
              </a:defRPr>
            </a:defPPr>
          </a:lstStyle>
          <a:p xmlns:a="http://schemas.openxmlformats.org/drawingml/2006/main">
            <a:pPr>
              <a:defRPr sz="2175" b="1">
                <a:solidFill>
                  <a:srgbClr val="173553"/>
                </a:solidFill>
              </a:defRPr>
            </a:pPr>
            <a:r>
              <a:rPr sz="2175" b="1">
                <a:solidFill>
                  <a:srgbClr val="173553"/>
                </a:solidFill>
              </a:rPr>
              <a:t>Salida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5B60841-60C0-4A41-AA48-D567FFD203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3219450"/>
            <a:ext cx="228600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75" b="0">
                <a:solidFill>
                  <a:srgbClr val="586A7B"/>
                </a:solidFill>
              </a:defRPr>
            </a:defPPr>
          </a:lstStyle>
          <a:p xmlns:a="http://schemas.openxmlformats.org/drawingml/2006/main">
            <a:pPr>
              <a:defRPr sz="1575" b="0">
                <a:solidFill>
                  <a:srgbClr val="586A7B"/>
                </a:solidFill>
              </a:defRPr>
            </a:pPr>
            <a:r>
              <a:rPr sz="1575" b="0">
                <a:solidFill>
                  <a:srgbClr val="586A7B"/>
                </a:solidFill>
              </a:rPr>
              <a:t>Tabla y gráfico</a:t>
            </a:r>
          </a:p>
          <a:p xmlns:a="http://schemas.openxmlformats.org/drawingml/2006/main">
            <a:pPr>
              <a:defRPr sz="1575" b="0">
                <a:solidFill>
                  <a:srgbClr val="586A7B"/>
                </a:solidFill>
              </a:defRPr>
            </a:pPr>
            <a:r>
              <a:rPr sz="1575" b="0">
                <a:solidFill>
                  <a:srgbClr val="586A7B"/>
                </a:solidFill>
              </a:rPr>
              <a:t>Resumen por voz del navegador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68D958A-FBBD-4F82-87B3-F758125BA4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581650"/>
            <a:ext cx="10668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1">
                <a:solidFill>
                  <a:srgbClr val="173553"/>
                </a:solidFill>
              </a:defRPr>
            </a:defPPr>
          </a:lstStyle>
          <a:p xmlns:a="http://schemas.openxmlformats.org/drawingml/2006/main">
            <a:pPr>
              <a:defRPr sz="1800" b="1">
                <a:solidFill>
                  <a:srgbClr val="173553"/>
                </a:solidFill>
              </a:defRPr>
            </a:pPr>
            <a:r>
              <a:rPr sz="1800" b="1">
                <a:solidFill>
                  <a:srgbClr val="173553"/>
                </a:solidFill>
              </a:rPr>
              <a:t>El LLM interpreta; el motor de reglas selecciona con datos medidos.</a:t>
            </a:r>
          </a:p>
        </p:txBody>
      </p:sp>
    </p:spTree>
    <p:extLst>
      <p:ext uri="{BB962C8B-B14F-4D97-AF65-F5344CB8AC3E}">
        <p14:creationId xmlns:p14="http://schemas.microsoft.com/office/powerpoint/2010/main" val="712115877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9FB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D8C2624-C4F8-42E4-9BFB-3E5ADFE03E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08204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850" b="1">
                <a:solidFill>
                  <a:srgbClr val="173553"/>
                </a:solidFill>
              </a:defRPr>
            </a:defPPr>
          </a:lstStyle>
          <a:p xmlns:a="http://schemas.openxmlformats.org/drawingml/2006/main">
            <a:pPr>
              <a:defRPr sz="2850" b="1">
                <a:solidFill>
                  <a:srgbClr val="173553"/>
                </a:solidFill>
              </a:defRPr>
            </a:pPr>
            <a:r>
              <a:rPr sz="2850" b="1">
                <a:solidFill>
                  <a:srgbClr val="173553"/>
                </a:solidFill>
              </a:rPr>
              <a:t>Datos y criterio de selección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9D9ADB1-5DA9-429A-B6B0-2648346EFB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96600" y="6229350"/>
            <a:ext cx="6096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0">
                <a:solidFill>
                  <a:srgbClr val="586A7B"/>
                </a:solidFill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586A7B"/>
                </a:solidFill>
              </a:defRPr>
            </a:pPr>
            <a:r>
              <a:rPr sz="1275" b="0">
                <a:solidFill>
                  <a:srgbClr val="586A7B"/>
                </a:solidFill>
              </a:rPr>
              <a:t>04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6FA108E-4709-4CFD-8497-E632F6FB9B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24000"/>
            <a:ext cx="47625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4650" b="1">
                <a:solidFill>
                  <a:srgbClr val="087F8C"/>
                </a:solidFill>
              </a:defRPr>
            </a:defPPr>
          </a:lstStyle>
          <a:p xmlns:a="http://schemas.openxmlformats.org/drawingml/2006/main">
            <a:pPr>
              <a:defRPr sz="4650" b="1">
                <a:solidFill>
                  <a:srgbClr val="087F8C"/>
                </a:solidFill>
              </a:defRPr>
            </a:pPr>
            <a:r>
              <a:rPr sz="4650" b="1">
                <a:solidFill>
                  <a:srgbClr val="087F8C"/>
                </a:solidFill>
              </a:rPr>
              <a:t>92.257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AF941A8-5F79-4453-8AF1-070CAD2C0A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24125"/>
            <a:ext cx="49530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586A7B"/>
                </a:solidFill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586A7B"/>
                </a:solidFill>
              </a:defRPr>
            </a:pPr>
            <a:r>
              <a:rPr sz="1875" b="0">
                <a:solidFill>
                  <a:srgbClr val="586A7B"/>
                </a:solidFill>
              </a:rPr>
              <a:t>identificadores importados del catálogo privado EODHD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AF75510-CCCB-4AC7-8231-37916170FB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1524000"/>
            <a:ext cx="40005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4650" b="1">
                <a:solidFill>
                  <a:srgbClr val="087F8C"/>
                </a:solidFill>
              </a:defRPr>
            </a:defPPr>
          </a:lstStyle>
          <a:p xmlns:a="http://schemas.openxmlformats.org/drawingml/2006/main">
            <a:pPr>
              <a:defRPr sz="4650" b="1">
                <a:solidFill>
                  <a:srgbClr val="087F8C"/>
                </a:solidFill>
              </a:defRPr>
            </a:pPr>
            <a:r>
              <a:rPr sz="4650" b="1">
                <a:solidFill>
                  <a:srgbClr val="087F8C"/>
                </a:solidFill>
              </a:rPr>
              <a:t>10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6EC5D7A-7F4F-4FD6-B9F3-57AD8D3CCA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2524125"/>
            <a:ext cx="46672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586A7B"/>
                </a:solidFill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586A7B"/>
                </a:solidFill>
              </a:defRPr>
            </a:pPr>
            <a:r>
              <a:rPr sz="1875" b="0">
                <a:solidFill>
                  <a:srgbClr val="586A7B"/>
                </a:solidFill>
              </a:rPr>
              <a:t>fondos sintéticos incluidos para arrancar la demo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C9CC887-6B5E-46F3-B594-96A8FDDCDD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00525"/>
            <a:ext cx="10001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1">
                <a:solidFill>
                  <a:srgbClr val="173553"/>
                </a:solidFill>
              </a:defRPr>
            </a:defPPr>
          </a:lstStyle>
          <a:p xmlns:a="http://schemas.openxmlformats.org/drawingml/2006/main">
            <a:pPr>
              <a:defRPr sz="2250" b="1">
                <a:solidFill>
                  <a:srgbClr val="173553"/>
                </a:solidFill>
              </a:defRPr>
            </a:pPr>
            <a:r>
              <a:rPr sz="2250" b="1">
                <a:solidFill>
                  <a:srgbClr val="173553"/>
                </a:solidFill>
              </a:rPr>
              <a:t>Puntuación reproducible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051607B-E65F-46F6-9BD0-3FE9EBFB28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72025"/>
            <a:ext cx="104775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0">
                <a:solidFill>
                  <a:srgbClr val="586A7B"/>
                </a:solidFill>
              </a:defRPr>
            </a:defPPr>
          </a:lstStyle>
          <a:p xmlns:a="http://schemas.openxmlformats.org/drawingml/2006/main">
            <a:pPr>
              <a:defRPr sz="1650" b="0">
                <a:solidFill>
                  <a:srgbClr val="586A7B"/>
                </a:solidFill>
              </a:defRPr>
            </a:pPr>
            <a:r>
              <a:rPr sz="1650" b="0">
                <a:solidFill>
                  <a:srgbClr val="586A7B"/>
                </a:solidFill>
              </a:rPr>
              <a:t>Ajuste de volatilidad 55 %    Sharpe 25 %    Retorno anual equivalente 20 %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A2E4309-47D7-411B-9B69-1BA2B04342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772150"/>
            <a:ext cx="10477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0">
                <a:solidFill>
                  <a:srgbClr val="586A7B"/>
                </a:solidFill>
              </a:defRPr>
            </a:defPPr>
          </a:lstStyle>
          <a:p xmlns:a="http://schemas.openxmlformats.org/drawingml/2006/main">
            <a:pPr>
              <a:defRPr sz="1500" b="0">
                <a:solidFill>
                  <a:srgbClr val="586A7B"/>
                </a:solidFill>
              </a:defRPr>
            </a:pPr>
            <a:r>
              <a:rPr sz="1500" b="0">
                <a:solidFill>
                  <a:srgbClr val="586A7B"/>
                </a:solidFill>
              </a:rPr>
              <a:t>Solo se filtra por región o sector cuando existe una fuente asociada. La falta de datos no se completa.</a:t>
            </a:r>
          </a:p>
        </p:txBody>
      </p:sp>
    </p:spTree>
    <p:extLst>
      <p:ext uri="{BB962C8B-B14F-4D97-AF65-F5344CB8AC3E}">
        <p14:creationId xmlns:p14="http://schemas.microsoft.com/office/powerpoint/2010/main" val="355543352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9FB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426AFEA-5EE8-4ED9-B9AA-5DF21CBE56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08204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850" b="1">
                <a:solidFill>
                  <a:srgbClr val="173553"/>
                </a:solidFill>
              </a:defRPr>
            </a:defPPr>
          </a:lstStyle>
          <a:p xmlns:a="http://schemas.openxmlformats.org/drawingml/2006/main">
            <a:pPr>
              <a:defRPr sz="2850" b="1">
                <a:solidFill>
                  <a:srgbClr val="173553"/>
                </a:solidFill>
              </a:defRPr>
            </a:pPr>
            <a:r>
              <a:rPr sz="2850" b="1">
                <a:solidFill>
                  <a:srgbClr val="173553"/>
                </a:solidFill>
              </a:rPr>
              <a:t>Viabilidad y límites del MVP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F866DA9-4C32-4CC8-A246-4C4B98FC09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96600" y="6229350"/>
            <a:ext cx="6096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0">
                <a:solidFill>
                  <a:srgbClr val="586A7B"/>
                </a:solidFill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586A7B"/>
                </a:solidFill>
              </a:defRPr>
            </a:pPr>
            <a:r>
              <a:rPr sz="1275" b="0">
                <a:solidFill>
                  <a:srgbClr val="586A7B"/>
                </a:solidFill>
              </a:rPr>
              <a:t>05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0AB4516-9D76-427E-9B91-8AB631A120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62100"/>
            <a:ext cx="4762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1">
                <a:solidFill>
                  <a:srgbClr val="173553"/>
                </a:solidFill>
              </a:defRPr>
            </a:defPPr>
          </a:lstStyle>
          <a:p xmlns:a="http://schemas.openxmlformats.org/drawingml/2006/main">
            <a:pPr>
              <a:defRPr sz="2250" b="1">
                <a:solidFill>
                  <a:srgbClr val="173553"/>
                </a:solidFill>
              </a:defRPr>
            </a:pPr>
            <a:r>
              <a:rPr sz="2250" b="1">
                <a:solidFill>
                  <a:srgbClr val="173553"/>
                </a:solidFill>
              </a:rPr>
              <a:t>Operación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FA5DA10-E774-4E07-8F48-A8D77E4280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81225"/>
            <a:ext cx="10191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586A7B"/>
                </a:solidFill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586A7B"/>
                </a:solidFill>
              </a:defRPr>
            </a:pPr>
            <a:r>
              <a:rPr sz="1800" b="0">
                <a:solidFill>
                  <a:srgbClr val="586A7B"/>
                </a:solidFill>
              </a:rPr>
              <a:t>Texto y ranking locales sin coste por petición. Voz opcional en CPU; LLM opcional con coste por uso.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947AFEF-4418-4D23-A67D-4E5E0E808F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76625"/>
            <a:ext cx="9048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1">
                <a:solidFill>
                  <a:srgbClr val="173553"/>
                </a:solidFill>
              </a:defRPr>
            </a:defPPr>
          </a:lstStyle>
          <a:p xmlns:a="http://schemas.openxmlformats.org/drawingml/2006/main">
            <a:pPr>
              <a:defRPr sz="2250" b="1">
                <a:solidFill>
                  <a:srgbClr val="173553"/>
                </a:solidFill>
              </a:defRPr>
            </a:pPr>
            <a:r>
              <a:rPr sz="2250" b="1">
                <a:solidFill>
                  <a:srgbClr val="173553"/>
                </a:solidFill>
              </a:rPr>
              <a:t>Privacidad y derechos de datos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8F27F60-E4EF-40F5-8CB5-D872073629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95750"/>
            <a:ext cx="10287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586A7B"/>
                </a:solidFill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586A7B"/>
                </a:solidFill>
              </a:defRPr>
            </a:pPr>
            <a:r>
              <a:rPr sz="1800" b="0">
                <a:solidFill>
                  <a:srgbClr val="586A7B"/>
                </a:solidFill>
              </a:rPr>
              <a:t>El catálogo real y las claves quedan fuera de Git. Antes de un despliegue público hay que revisar la licencia de datos.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B0B5FA3-1446-4F1A-A783-7F0D057F35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91150"/>
            <a:ext cx="9048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1">
                <a:solidFill>
                  <a:srgbClr val="173553"/>
                </a:solidFill>
              </a:defRPr>
            </a:defPPr>
          </a:lstStyle>
          <a:p xmlns:a="http://schemas.openxmlformats.org/drawingml/2006/main">
            <a:pPr>
              <a:defRPr sz="2250" b="1">
                <a:solidFill>
                  <a:srgbClr val="173553"/>
                </a:solidFill>
              </a:defRPr>
            </a:pPr>
            <a:r>
              <a:rPr sz="2250" b="1">
                <a:solidFill>
                  <a:srgbClr val="173553"/>
                </a:solidFill>
              </a:rPr>
              <a:t>Siguiente validación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A656406-7666-42EB-A47C-05E33125A5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43600"/>
            <a:ext cx="10287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0">
                <a:solidFill>
                  <a:srgbClr val="586A7B"/>
                </a:solidFill>
              </a:defRPr>
            </a:defPPr>
          </a:lstStyle>
          <a:p xmlns:a="http://schemas.openxmlformats.org/drawingml/2006/main">
            <a:pPr>
              <a:defRPr sz="1650" b="0">
                <a:solidFill>
                  <a:srgbClr val="586A7B"/>
                </a:solidFill>
              </a:defRPr>
            </a:pPr>
            <a:r>
              <a:rPr sz="1650" b="0">
                <a:solidFill>
                  <a:srgbClr val="586A7B"/>
                </a:solidFill>
              </a:rPr>
              <a:t>Medir latencia y cobertura. Verificar comisiones e idoneidad antes de recomendar a clientes.</a:t>
            </a:r>
          </a:p>
        </p:txBody>
      </p:sp>
    </p:spTree>
    <p:extLst>
      <p:ext uri="{BB962C8B-B14F-4D97-AF65-F5344CB8AC3E}">
        <p14:creationId xmlns:p14="http://schemas.microsoft.com/office/powerpoint/2010/main" val="46981280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2026-10-07T10:30:13.1800000Z</dcterms:created>
  <dcterms:modified xsi:type="dcterms:W3CDTF">2026-10-07T10:30:13.1800000Z</dcterms:modified>
</coreProperties>
</file>