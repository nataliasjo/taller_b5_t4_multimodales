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3e4e7b6104890" /><Relationship Type="http://schemas.openxmlformats.org/officeDocument/2006/relationships/extended-properties" Target="/docProps/app.xml" Id="Rb50914b961334030" /><Relationship Type="http://schemas.openxmlformats.org/officeDocument/2006/relationships/officeDocument" Target="/ppt/presentation.xml" Id="Rc4fc08afb816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ec7a9d43344e1"/>
  </p:sldMasterIdLst>
  <p:notesMasterIdLst>
    <p:notesMasterId xmlns:r="http://schemas.openxmlformats.org/officeDocument/2006/relationships" r:id="Ra5cf8ac91b1c43d6"/>
  </p:notesMasterIdLst>
  <p:sldIdLst>
    <p:sldId xmlns:r="http://schemas.openxmlformats.org/officeDocument/2006/relationships" id="256" r:id="Rd18ecc065ed8407b"/>
    <p:sldId xmlns:r="http://schemas.openxmlformats.org/officeDocument/2006/relationships" id="257" r:id="R80d813ced99e49cd"/>
    <p:sldId xmlns:r="http://schemas.openxmlformats.org/officeDocument/2006/relationships" id="258" r:id="Rec6a05a0fb4e4cce"/>
    <p:sldId xmlns:r="http://schemas.openxmlformats.org/officeDocument/2006/relationships" id="259" r:id="R5a551670fd0b4cff"/>
    <p:sldId xmlns:r="http://schemas.openxmlformats.org/officeDocument/2006/relationships" id="260" r:id="R153b55c38f204d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27d5fd63740f2" /><Relationship Type="http://schemas.openxmlformats.org/officeDocument/2006/relationships/slideMaster" Target="/ppt/slideMasters/slideMaster1.xml" Id="Rbdbec7a9d43344e1" /><Relationship Type="http://schemas.openxmlformats.org/officeDocument/2006/relationships/notesMaster" Target="/ppt/notesMasters/notesMaster1.xml" Id="Ra5cf8ac91b1c43d6" /><Relationship Type="http://schemas.openxmlformats.org/officeDocument/2006/relationships/presProps" Target="/ppt/presProps.xml" Id="Re8dec280cc554e91" /><Relationship Type="http://schemas.openxmlformats.org/officeDocument/2006/relationships/tableStyles" Target="/ppt/tableStyles.xml" Id="R20b1ecd5d4274c1e" /><Relationship Type="http://schemas.openxmlformats.org/officeDocument/2006/relationships/slide" Target="/ppt/slides/slide1.xml" Id="Rd18ecc065ed8407b" /><Relationship Type="http://schemas.openxmlformats.org/officeDocument/2006/relationships/slide" Target="/ppt/slides/slide2.xml" Id="R80d813ced99e49cd" /><Relationship Type="http://schemas.openxmlformats.org/officeDocument/2006/relationships/slide" Target="/ppt/slides/slide3.xml" Id="Rec6a05a0fb4e4cce" /><Relationship Type="http://schemas.openxmlformats.org/officeDocument/2006/relationships/slide" Target="/ppt/slides/slide4.xml" Id="R5a551670fd0b4cff" /><Relationship Type="http://schemas.openxmlformats.org/officeDocument/2006/relationships/slide" Target="/ppt/slides/slide5.xml" Id="R153b55c38f204d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0be069fa5a48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343cd68904212" /><Relationship Type="http://schemas.openxmlformats.org/officeDocument/2006/relationships/notesMaster" Target="/ppt/notesMasters/notesMaster1.xml" Id="Rbb03516dc020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a67cef53fd46d6" /><Relationship Type="http://schemas.openxmlformats.org/officeDocument/2006/relationships/notesMaster" Target="/ppt/notesMasters/notesMaster1.xml" Id="R706cf9dafbdb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236163dec4a8c" /><Relationship Type="http://schemas.openxmlformats.org/officeDocument/2006/relationships/notesMaster" Target="/ppt/notesMasters/notesMaster1.xml" Id="Ra2b2d35de4ba41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a35221f00e406b" /><Relationship Type="http://schemas.openxmlformats.org/officeDocument/2006/relationships/notesMaster" Target="/ppt/notesMasters/notesMaster1.xml" Id="Rc609c32d0883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43a414387446a" /><Relationship Type="http://schemas.openxmlformats.org/officeDocument/2006/relationships/notesMaster" Target="/ppt/notesMasters/notesMaster1.xml" Id="Rba950a380802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enunciado Taller_B5_T4.pdf y código del repositorio FondoClaro.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propia de app.py con data/demo_funds.csv. Los nombres, identificadores y cifras de la captura son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app.py, src/preferences.py, src/audio.py, src/recommender.py. El complemento de voz y el LLM son opcionales; el flujo textual funciona sin claves.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data/private/funds.csv generado localmente mediante scripts/import_catalog.py a partir del Markdown privado del equipo; data/demo_funds.csv; src/recommender.py. El dataset privado no se publica en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 y enunciado Taller_B5_T4.pdf. Las afirmaciones de viabilidad son supuestos de MVP, no mediciones de producción. La regulación aplicable requiere revisión especializada antes de prestar asesoramiento.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6bedfae2a41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931c627d143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9eb0be04d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d9aad726447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4a24f682640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53cdf40f645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21AB31-63E5-4895-BB05-F9252EE70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35F104-C14C-4690-9616-2B192EBCE4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11BEEB-B7FC-48FA-97A7-94B5BB4BF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CF3845-B3DA-4BFE-A7FA-4832064940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8B16DF-F540-4D83-8639-C96442E0B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A23E26-1E1F-4601-AACF-F99B3581E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122257-39C0-42A6-9A64-AD1EF05FB0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ABE4EA-6FC4-4422-8B52-D392745DD8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ED4CC8-76E2-42C9-A440-3083F4824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D80A26-7EBA-41A1-9839-C4DF41E05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8bedee5f140a6" /><Relationship Type="http://schemas.openxmlformats.org/officeDocument/2006/relationships/slideLayout" Target="/ppt/slideLayouts/slideLayout1.xml" Id="Ree888e8811764e33" /><Relationship Type="http://schemas.openxmlformats.org/officeDocument/2006/relationships/slideLayout" Target="/ppt/slideLayouts/slideLayout2.xml" Id="R5c0803d15c1040ef" /><Relationship Type="http://schemas.openxmlformats.org/officeDocument/2006/relationships/slideLayout" Target="/ppt/slideLayouts/slideLayout3.xml" Id="R5fa26424b2fd4798" /><Relationship Type="http://schemas.openxmlformats.org/officeDocument/2006/relationships/slideLayout" Target="/ppt/slideLayouts/slideLayout4.xml" Id="R0889aff3f6974c68" /><Relationship Type="http://schemas.openxmlformats.org/officeDocument/2006/relationships/slideLayout" Target="/ppt/slideLayouts/slideLayout5.xml" Id="Rbecf904b05c94112" /><Relationship Type="http://schemas.openxmlformats.org/officeDocument/2006/relationships/slideLayout" Target="/ppt/slideLayouts/slideLayout6.xml" Id="R74130f48684046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888e8811764e33"/>
    <p:sldLayoutId xmlns:r="http://schemas.openxmlformats.org/officeDocument/2006/relationships" id="2147483650" r:id="R5c0803d15c1040ef"/>
    <p:sldLayoutId xmlns:r="http://schemas.openxmlformats.org/officeDocument/2006/relationships" id="2147483651" r:id="R5fa26424b2fd4798"/>
    <p:sldLayoutId xmlns:r="http://schemas.openxmlformats.org/officeDocument/2006/relationships" id="2147483652" r:id="R0889aff3f6974c68"/>
    <p:sldLayoutId xmlns:r="http://schemas.openxmlformats.org/officeDocument/2006/relationships" id="2147483653" r:id="Rbecf904b05c94112"/>
    <p:sldLayoutId xmlns:r="http://schemas.openxmlformats.org/officeDocument/2006/relationships" id="2147483654" r:id="R74130f48684046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e16561dfa4726" /><Relationship Type="http://schemas.openxmlformats.org/officeDocument/2006/relationships/notesSlide" Target="/ppt/notesSlides/notesSlide1.xml" Id="Rfccd939b74a2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fad86ee014bb4" /><Relationship Type="http://schemas.openxmlformats.org/officeDocument/2006/relationships/image" Target="/ppt/media/image.jpeg" Id="R8fb6d4092aed4591" /><Relationship Type="http://schemas.openxmlformats.org/officeDocument/2006/relationships/notesSlide" Target="/ppt/notesSlides/notesSlide2.xml" Id="R71a775488d2849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48848ce934167" /><Relationship Type="http://schemas.openxmlformats.org/officeDocument/2006/relationships/notesSlide" Target="/ppt/notesSlides/notesSlide3.xml" Id="R16a2e42d45034a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d35b875bc45ea" /><Relationship Type="http://schemas.openxmlformats.org/officeDocument/2006/relationships/notesSlide" Target="/ppt/notesSlides/notesSlide4.xml" Id="Rd01792f062024f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db2dc32514f7c" /><Relationship Type="http://schemas.openxmlformats.org/officeDocument/2006/relationships/notesSlide" Target="/ppt/notesSlides/notesSlide5.xml" Id="Rf818595c5ca24f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E1F1-0B99-453F-9CF0-8335FF9C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73553"/>
                </a:solidFill>
              </a:defRPr>
            </a:pPr>
            <a:r>
              <a:rPr sz="4200" b="1">
                <a:solidFill>
                  <a:srgbClr val="173553"/>
                </a:solidFill>
              </a:rPr>
              <a:t>FondoClaro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EA161-5445-4145-871B-8A96452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553"/>
                </a:solidFill>
              </a:defRPr>
            </a:pPr>
            <a:r>
              <a:rPr sz="2550" b="0">
                <a:solidFill>
                  <a:srgbClr val="173553"/>
                </a:solidFill>
              </a:rPr>
              <a:t>Una petición en lenguaje natural, una preselección explicable de fondos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35A96-39AE-483C-880F-A26A8B5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MVP multimodal · Taller B5-T4 · Octubre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BA37E-9D62-42BC-9891-FDA6454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A7B"/>
                </a:solidFill>
              </a:defRPr>
            </a:pPr>
            <a:r>
              <a:rPr sz="1350" b="0">
                <a:solidFill>
                  <a:srgbClr val="586A7B"/>
                </a:solidFill>
              </a:rPr>
              <a:t>Demostración educativa. No constituye asesoramiento de inversión.</a:t>
            </a:r>
          </a:p>
        </p:txBody>
      </p:sp>
    </p:spTree>
    <p:extLst>
      <p:ext uri="{BB962C8B-B14F-4D97-AF65-F5344CB8AC3E}">
        <p14:creationId xmlns:p14="http://schemas.microsoft.com/office/powerpoint/2010/main" val="477952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3E2D5-9B4D-4D10-8594-61BCF6F9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Experiencia del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9CDAE-73B9-4C81-B012-0863427B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152FD-9B17-4CF0-951D-2A76D633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1. Describe lo que busca por escrito o con voz.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357A-9EFA-47B7-B81F-89B6824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2. Revisa horizonte, riesgo y divisa detectados.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B4BDA-8CCC-4884-A775-D8C93EE3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A7B"/>
                </a:solidFill>
              </a:defRPr>
            </a:pPr>
            <a:r>
              <a:rPr sz="1725" b="0">
                <a:solidFill>
                  <a:srgbClr val="586A7B"/>
                </a:solidFill>
              </a:rPr>
              <a:t>3. Compara candidatos, métricas y motivos.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2C29A-4F84-42BE-8F33-DFE45A74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87F8C"/>
                </a:solidFill>
              </a:defRPr>
            </a:pPr>
            <a:r>
              <a:rPr sz="1575" b="0">
                <a:solidFill>
                  <a:srgbClr val="087F8C"/>
                </a:solidFill>
              </a:rPr>
              <a:t>La captura usa diez fondos ficticios del repositorio.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EFEB5-26B1-455B-BEB6-95E84F9C4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6d4092aed4591"/>
          <a:stretch xmlns:a="http://schemas.openxmlformats.org/drawingml/2006/main"/>
        </p:blipFill>
        <p:spPr>
          <a:xfrm xmlns:a="http://schemas.openxmlformats.org/drawingml/2006/main">
            <a:off x="7248560" y="1371600"/>
            <a:ext cx="2838381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04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09C85-A56A-409F-9B6F-14395B5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Arquitectura y orquestación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39DDB-C0E1-4D24-9EC5-CE5EAD8F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79F5-39D5-4053-9F09-84B05807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E8628-29E8-484B-913B-50CD0F7A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BDEF9-1A68-4804-A574-438AB322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Texto en español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Audio con Whisper local opcional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76760-7887-401E-AA24-4AA7819C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529B-9B95-411A-ADD5-B1C05DA9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Interpretación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5E1FF-F715-468D-83FE-EA53D765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Reglas locales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LLM opcional para extraer parámetros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CD5E0-66AD-4FA7-913F-6024D5DF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248FC-14EB-4B65-A9EF-B8EF129F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B6609-EB48-4F00-987E-1275494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Confirmación del perfil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Filtros y ranking deterministas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EBBAA-12D8-4499-8540-BD89AC8A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C"/>
                </a:solidFill>
              </a:defRPr>
            </a:pPr>
            <a:r>
              <a:rPr sz="2625" b="1">
                <a:solidFill>
                  <a:srgbClr val="087F8C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271E4-3E1D-451B-A8CF-9A41D25F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553"/>
                </a:solidFill>
              </a:defRPr>
            </a:pPr>
            <a:r>
              <a:rPr sz="2175" b="1">
                <a:solidFill>
                  <a:srgbClr val="173553"/>
                </a:solidFill>
              </a:rPr>
              <a:t>Salida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19C56-93A8-49C6-A404-1A5B700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Tabla y gráfico</a:t>
            </a:r>
          </a:p>
          <a:p xmlns:a="http://schemas.openxmlformats.org/drawingml/2006/main">
            <a:pPr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Resumen por voz del navegador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EF43E-9DA7-406B-AA53-19FF3902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553"/>
                </a:solidFill>
              </a:defRPr>
            </a:pPr>
            <a:r>
              <a:rPr sz="1800" b="1">
                <a:solidFill>
                  <a:srgbClr val="173553"/>
                </a:solidFill>
              </a:rPr>
              <a:t>El LLM interpreta; el motor de reglas selecciona con datos medidos.</a:t>
            </a:r>
          </a:p>
        </p:txBody>
      </p:sp>
    </p:spTree>
    <p:extLst>
      <p:ext uri="{BB962C8B-B14F-4D97-AF65-F5344CB8AC3E}">
        <p14:creationId xmlns:p14="http://schemas.microsoft.com/office/powerpoint/2010/main" val="95933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6C645-B561-4DB2-9107-B638860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Datos y criterio de selección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08955-7581-4AAA-BA65-911BF1FD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45D59-9BD6-4532-A7EF-56CC56D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87F8C"/>
                </a:solidFill>
              </a:defRPr>
            </a:pPr>
            <a:r>
              <a:rPr sz="4650" b="1">
                <a:solidFill>
                  <a:srgbClr val="087F8C"/>
                </a:solidFill>
              </a:rPr>
              <a:t>92.257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C0A3C-3F00-499A-AC5F-99C2781E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A7B"/>
                </a:solidFill>
              </a:defRPr>
            </a:pPr>
            <a:r>
              <a:rPr sz="1875" b="0">
                <a:solidFill>
                  <a:srgbClr val="586A7B"/>
                </a:solidFill>
              </a:rPr>
              <a:t>identificadores importados del catálogo privado EODHD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B5DAC-B1E7-4C0B-9EDA-734FABF4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87F8C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87F8C"/>
                </a:solidFill>
              </a:defRPr>
            </a:pPr>
            <a:r>
              <a:rPr sz="4650" b="1">
                <a:solidFill>
                  <a:srgbClr val="087F8C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696B0-F390-477D-8A6D-4FF0FA7B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2412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A7B"/>
                </a:solidFill>
              </a:defRPr>
            </a:pPr>
            <a:r>
              <a:rPr sz="1875" b="0">
                <a:solidFill>
                  <a:srgbClr val="586A7B"/>
                </a:solidFill>
              </a:rPr>
              <a:t>fondos sintéticos incluidos para arrancar la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9D1A9-A292-422D-A2AA-4179BAF0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Puntuación reproducible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D448E-BD96-4E5E-8C1A-88120E22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A7B"/>
                </a:solidFill>
              </a:defRPr>
            </a:pPr>
            <a:r>
              <a:rPr sz="1650" b="0">
                <a:solidFill>
                  <a:srgbClr val="586A7B"/>
                </a:solidFill>
              </a:rPr>
              <a:t>Ajuste de volatilidad 55 %    Sharpe 25 %    Retorno anual equivalente 20 %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AAA70-DD57-4F8D-87B9-2910867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A7B"/>
                </a:solidFill>
              </a:defRPr>
            </a:pPr>
            <a:r>
              <a:rPr sz="1500" b="0">
                <a:solidFill>
                  <a:srgbClr val="586A7B"/>
                </a:solidFill>
              </a:rPr>
              <a:t>Solo se filtra por región o sector cuando existe una fuente asociada. La falta de datos no se completa.</a:t>
            </a:r>
          </a:p>
        </p:txBody>
      </p:sp>
    </p:spTree>
    <p:extLst>
      <p:ext uri="{BB962C8B-B14F-4D97-AF65-F5344CB8AC3E}">
        <p14:creationId xmlns:p14="http://schemas.microsoft.com/office/powerpoint/2010/main" val="26312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E938B-12E6-4F4F-99AD-9520796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Viabilidad y límites del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CB719-1ACB-4018-B6C8-72C4060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29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AE9DE-25CE-4D19-BB97-1E868C0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Operación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4BE14-45C4-4012-AC5F-DA10B998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A7B"/>
                </a:solidFill>
              </a:defRPr>
            </a:pPr>
            <a:r>
              <a:rPr sz="1800" b="0">
                <a:solidFill>
                  <a:srgbClr val="586A7B"/>
                </a:solidFill>
              </a:rPr>
              <a:t>Texto y ranking locales sin coste por petición. Voz opcional en CPU; LLM opcional con coste por uso.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84B40-A9D3-424F-80F9-523A5C3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Privacidad y derechos de 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1C925-AD11-4976-809D-8B001900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A7B"/>
                </a:solidFill>
              </a:defRPr>
            </a:pPr>
            <a:r>
              <a:rPr sz="1800" b="0">
                <a:solidFill>
                  <a:srgbClr val="586A7B"/>
                </a:solidFill>
              </a:rPr>
              <a:t>El catálogo real y las claves quedan fuera de Git. Antes de un despliegue público hay que revisar la licencia de datos.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7C4DD-39C3-430C-A08F-832EF7A4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55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553"/>
                </a:solidFill>
              </a:defRPr>
            </a:pPr>
            <a:r>
              <a:rPr sz="2250" b="1">
                <a:solidFill>
                  <a:srgbClr val="173553"/>
                </a:solidFill>
              </a:rPr>
              <a:t>Siguiente validación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74154-61CF-4CD8-956A-862B7182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A7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A7B"/>
                </a:solidFill>
              </a:defRPr>
            </a:pPr>
            <a:r>
              <a:rPr sz="1650" b="0">
                <a:solidFill>
                  <a:srgbClr val="586A7B"/>
                </a:solidFill>
              </a:rPr>
              <a:t>Medir latencia y cobertura. Verificar comisiones e idoneidad antes de recomendar a clientes.</a:t>
            </a:r>
          </a:p>
        </p:txBody>
      </p:sp>
    </p:spTree>
    <p:extLst>
      <p:ext uri="{BB962C8B-B14F-4D97-AF65-F5344CB8AC3E}">
        <p14:creationId xmlns:p14="http://schemas.microsoft.com/office/powerpoint/2010/main" val="1853605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2026-10-07T10:37:53.2620000Z</dcterms:created>
  <dcterms:modified xsi:type="dcterms:W3CDTF">2026-10-07T10:37:53.2620000Z</dcterms:modified>
</coreProperties>
</file>