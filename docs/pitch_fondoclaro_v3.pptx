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61" r:id="rId3"/>
    <p:sldId id="257" r:id="rId4"/>
    <p:sldId id="258" r:id="rId5"/>
    <p:sldId id="262" r:id="rId6"/>
    <p:sldId id="263" r:id="rId7"/>
    <p:sldId id="264" r:id="rId8"/>
    <p:sldId id="259" r:id="rId9"/>
    <p:sldId id="265" r:id="rId10"/>
    <p:sldId id="266" r:id="rId11"/>
    <p:sldId id="268" r:id="rId12"/>
    <p:sldId id="260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0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enunciado Taller_B5_T4.pdf y código del repositorio FondoClaro.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captura propia de app.py con data/demo_funds.csv. Los nombres, identificadores y cifras de la captura son sintéticos.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app.py, src/preferences.py, src/audio.py, src/recommender.py. El complemento de voz y el LLM son opcionales; el flujo textual funciona sin claves.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Fuentes: data/private/funds.csv generado localmente mediante scripts/import_catalog.py a partir del Markdown privado del equipo; data/demo_funds.csv; src/recommender.py. El dataset privado no se publica en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Fuentes: README.md y enunciado Taller_B5_T4.pdf. Las afirmaciones de viabilidad son supuestos de MVP, no mediciones de producción. La regulación aplicable requiere revisión especializada antes de prestar asesoramiento.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C121AB31-63E5-4895-BB05-F9252EE70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BC35F104-C14C-4690-9616-2B192EBCE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9511BEEB-B7FC-48FA-97A7-94B5BB4BF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5CF3845-B3DA-4BFE-A7FA-48320649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3C8B16DF-F540-4D83-8639-C96442E0B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6A23E26-1E1F-4601-AACF-F99B3581E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3122257-39C0-42A6-9A64-AD1EF05FB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01ABE4EA-6FC4-4422-8B52-D392745DD86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6ED4CC8-76E2-42C9-A440-3083F4824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BD80A26-7EBA-41A1-9839-C4DF41E05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6389E1F1-0B99-453F-9CF0-8335FF9C9A28}"/>
              </a:ext>
            </a:extLst>
          </p:cNvPr>
          <p:cNvSpPr>
            <a:spLocks noGrp="1"/>
          </p:cNvSpPr>
          <p:nvPr/>
        </p:nvSpPr>
        <p:spPr>
          <a:xfrm>
            <a:off x="762000" y="1543050"/>
            <a:ext cx="105727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4200" b="1">
                <a:solidFill>
                  <a:srgbClr val="173553"/>
                </a:solidFill>
              </a:defRPr>
            </a:defPPr>
          </a:lstStyle>
          <a:p>
            <a:pPr>
              <a:defRPr sz="4200" b="1">
                <a:solidFill>
                  <a:srgbClr val="173553"/>
                </a:solidFill>
              </a:defRPr>
            </a:pPr>
            <a:r>
              <a:rPr sz="4200" b="1">
                <a:solidFill>
                  <a:srgbClr val="173553"/>
                </a:solidFill>
              </a:rPr>
              <a:t>FondoClaro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A0EA161-5445-4145-871B-8A96452E363C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100012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0">
                <a:solidFill>
                  <a:srgbClr val="173553"/>
                </a:solidFill>
              </a:defRPr>
            </a:defPPr>
          </a:lstStyle>
          <a:p>
            <a:pPr>
              <a:defRPr sz="2550" b="0">
                <a:solidFill>
                  <a:srgbClr val="173553"/>
                </a:solidFill>
              </a:defRPr>
            </a:pPr>
            <a:r>
              <a:rPr sz="2550" b="0">
                <a:solidFill>
                  <a:srgbClr val="173553"/>
                </a:solidFill>
              </a:rPr>
              <a:t>Una conversación por voz, una cartera de fondos explicada y un informe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4D35A96-39AE-483C-880F-A26A8B517E7E}"/>
              </a:ext>
            </a:extLst>
          </p:cNvPr>
          <p:cNvSpPr>
            <a:spLocks noGrp="1"/>
          </p:cNvSpPr>
          <p:nvPr/>
        </p:nvSpPr>
        <p:spPr>
          <a:xfrm>
            <a:off x="781050" y="4591050"/>
            <a:ext cx="952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0">
                <a:solidFill>
                  <a:srgbClr val="586A7B"/>
                </a:solidFill>
              </a:defRPr>
            </a:defPPr>
          </a:lstStyle>
          <a:p>
            <a:pPr>
              <a:defRPr sz="1725" b="0">
                <a:solidFill>
                  <a:srgbClr val="586A7B"/>
                </a:solidFill>
              </a:defRPr>
            </a:pPr>
            <a:r>
              <a:rPr sz="1725" b="0" dirty="0">
                <a:solidFill>
                  <a:srgbClr val="586A7B"/>
                </a:solidFill>
              </a:rPr>
              <a:t>MVP multimodal · Taller B5-T4 · </a:t>
            </a:r>
            <a:r>
              <a:rPr sz="1725" b="0" dirty="0" err="1">
                <a:solidFill>
                  <a:srgbClr val="586A7B"/>
                </a:solidFill>
              </a:rPr>
              <a:t>Octubre</a:t>
            </a:r>
            <a:r>
              <a:rPr sz="1725" b="0" dirty="0">
                <a:solidFill>
                  <a:srgbClr val="586A7B"/>
                </a:solidFill>
              </a:rPr>
              <a:t> de 2026</a:t>
            </a:r>
            <a:endParaRPr lang="es-ES" sz="1725" b="0" dirty="0">
              <a:solidFill>
                <a:srgbClr val="586A7B"/>
              </a:solidFill>
            </a:endParaRPr>
          </a:p>
          <a:p>
            <a:pPr>
              <a:defRPr sz="1725" b="0">
                <a:solidFill>
                  <a:srgbClr val="586A7B"/>
                </a:solidFill>
              </a:defRPr>
            </a:pPr>
            <a:r>
              <a:rPr lang="es-ES" sz="1725" dirty="0">
                <a:solidFill>
                  <a:srgbClr val="586A7B"/>
                </a:solidFill>
              </a:rPr>
              <a:t>Josep Pérez Segura, Emilio Sánchez Martínez y Natalia San José Ortega </a:t>
            </a:r>
            <a:endParaRPr sz="1725" b="0" dirty="0">
              <a:solidFill>
                <a:srgbClr val="586A7B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51BA37E-9D62-42BC-9891-FDA6454C7C49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9906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586A7B"/>
                </a:solidFill>
              </a:defRPr>
            </a:defPPr>
          </a:lstStyle>
          <a:p>
            <a:pPr>
              <a:defRPr sz="1350" b="0">
                <a:solidFill>
                  <a:srgbClr val="586A7B"/>
                </a:solidFill>
              </a:defRPr>
            </a:pPr>
            <a:r>
              <a:rPr sz="1350" b="0">
                <a:solidFill>
                  <a:srgbClr val="586A7B"/>
                </a:solidFill>
              </a:rPr>
              <a:t>Demostración educativa. No constituye asesoramiento de inversión.</a:t>
            </a:r>
          </a:p>
        </p:txBody>
      </p:sp>
    </p:spTree>
    <p:extLst>
      <p:ext uri="{BB962C8B-B14F-4D97-AF65-F5344CB8AC3E}">
        <p14:creationId xmlns:p14="http://schemas.microsoft.com/office/powerpoint/2010/main" val="47795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9436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>
                <a:solidFill>
                  <a:srgbClr val="173553"/>
                </a:solidFill>
              </a:rPr>
              <a:t>El problema, para quién y por qué multimodal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6272784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>
                <a:solidFill>
                  <a:srgbClr val="586A7B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8988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87F8C"/>
                </a:solidFill>
              </a:rPr>
              <a:t>EL PROBLEMA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55648"/>
            <a:ext cx="3291840" cy="777240"/>
          </a:xfrm>
          <a:prstGeom prst="roundRect">
            <a:avLst>
              <a:gd name="adj" fmla="val 11764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300" b="1">
                <a:solidFill>
                  <a:srgbClr val="173553"/>
                </a:solidFill>
              </a:rPr>
              <a:t>Miles de clases de fondos</a:t>
            </a:r>
          </a:p>
          <a:p>
            <a:pPr algn="ctr"/>
            <a:r>
              <a:rPr sz="1200" b="0">
                <a:solidFill>
                  <a:srgbClr val="173553"/>
                </a:solidFill>
              </a:rPr>
              <a:t>92.257 en el catálogo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0048"/>
            <a:ext cx="3291840" cy="777240"/>
          </a:xfrm>
          <a:prstGeom prst="roundRect">
            <a:avLst>
              <a:gd name="adj" fmla="val 11764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300" b="1">
                <a:solidFill>
                  <a:srgbClr val="173553"/>
                </a:solidFill>
              </a:rPr>
              <a:t>Información dispersa</a:t>
            </a:r>
          </a:p>
          <a:p>
            <a:pPr algn="ctr"/>
            <a:r>
              <a:rPr sz="1200" b="0">
                <a:solidFill>
                  <a:srgbClr val="173553"/>
                </a:solidFill>
              </a:rPr>
              <a:t>precios, folletos en PDF, fichas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584448"/>
            <a:ext cx="3291840" cy="777240"/>
          </a:xfrm>
          <a:prstGeom prst="roundRect">
            <a:avLst>
              <a:gd name="adj" fmla="val 11764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300" b="1">
                <a:solidFill>
                  <a:srgbClr val="173553"/>
                </a:solidFill>
              </a:rPr>
              <a:t>Quien ahorra habla de plazos y miedos</a:t>
            </a:r>
          </a:p>
          <a:p>
            <a:pPr algn="ctr"/>
            <a:r>
              <a:rPr sz="1200" b="0">
                <a:solidFill>
                  <a:srgbClr val="173553"/>
                </a:solidFill>
              </a:rPr>
              <a:t>no de volatilidad ni de Sharpe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3128" y="138988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87F8C"/>
                </a:solidFill>
              </a:rPr>
              <a:t>FONDOCLARO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755648"/>
            <a:ext cx="3291840" cy="777240"/>
          </a:xfrm>
          <a:prstGeom prst="roundRect">
            <a:avLst>
              <a:gd name="adj" fmla="val 11764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300" b="1">
                <a:solidFill>
                  <a:srgbClr val="173553"/>
                </a:solidFill>
              </a:rPr>
              <a:t>Conversación por voz</a:t>
            </a:r>
          </a:p>
          <a:p>
            <a:pPr algn="ctr"/>
            <a:r>
              <a:rPr sz="1200" b="0">
                <a:solidFill>
                  <a:srgbClr val="173553"/>
                </a:solidFill>
              </a:rPr>
              <a:t>como con un asesor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2670048"/>
            <a:ext cx="3291840" cy="777240"/>
          </a:xfrm>
          <a:prstGeom prst="roundRect">
            <a:avLst>
              <a:gd name="adj" fmla="val 11764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300" b="1">
                <a:solidFill>
                  <a:srgbClr val="173553"/>
                </a:solidFill>
              </a:rPr>
              <a:t>Lee precios diarios y folletos</a:t>
            </a:r>
          </a:p>
          <a:p>
            <a:pPr algn="ctr"/>
            <a:r>
              <a:rPr sz="1200" b="0">
                <a:solidFill>
                  <a:srgbClr val="173553"/>
                </a:solidFill>
              </a:rPr>
              <a:t>y aplica el perfil a todo el catálogo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3584448"/>
            <a:ext cx="3291840" cy="777240"/>
          </a:xfrm>
          <a:prstGeom prst="roundRect">
            <a:avLst>
              <a:gd name="adj" fmla="val 11764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300" b="1">
                <a:solidFill>
                  <a:srgbClr val="173553"/>
                </a:solidFill>
              </a:rPr>
              <a:t>Cartera explicada</a:t>
            </a:r>
          </a:p>
          <a:p>
            <a:pPr algn="ctr"/>
            <a:r>
              <a:rPr sz="1200" b="0">
                <a:solidFill>
                  <a:srgbClr val="173553"/>
                </a:solidFill>
              </a:rPr>
              <a:t>informe PDF y resumen hablado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138988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87F8C"/>
                </a:solidFill>
              </a:rPr>
              <a:t>PARA QUIÉN · B2B2C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0456" y="2212848"/>
            <a:ext cx="3291840" cy="777240"/>
          </a:xfrm>
          <a:prstGeom prst="roundRect">
            <a:avLst>
              <a:gd name="adj" fmla="val 11764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300" b="1">
                <a:solidFill>
                  <a:srgbClr val="173553"/>
                </a:solidFill>
              </a:rPr>
              <a:t>Asesores y redes de oficinas</a:t>
            </a:r>
          </a:p>
          <a:p>
            <a:pPr algn="ctr"/>
            <a:r>
              <a:rPr sz="1200" b="0">
                <a:solidFill>
                  <a:srgbClr val="173553"/>
                </a:solidFill>
              </a:rPr>
              <a:t>preparan la reunión con el cliente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456" y="3127248"/>
            <a:ext cx="3291840" cy="777240"/>
          </a:xfrm>
          <a:prstGeom prst="roundRect">
            <a:avLst>
              <a:gd name="adj" fmla="val 11764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300" b="1">
                <a:solidFill>
                  <a:srgbClr val="173553"/>
                </a:solidFill>
              </a:rPr>
              <a:t>El cliente final</a:t>
            </a:r>
          </a:p>
          <a:p>
            <a:pPr algn="ctr"/>
            <a:r>
              <a:rPr sz="1200" b="0">
                <a:solidFill>
                  <a:srgbClr val="173553"/>
                </a:solidFill>
              </a:rPr>
              <a:t>recibe una propuesta que entiende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3063240"/>
            <a:ext cx="384048" cy="0"/>
          </a:xfrm>
          <a:prstGeom prst="line">
            <a:avLst/>
          </a:prstGeom>
          <a:ln w="31750">
            <a:solidFill>
              <a:srgbClr val="087F8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90688" y="3063240"/>
            <a:ext cx="384048" cy="0"/>
          </a:xfrm>
          <a:prstGeom prst="line">
            <a:avLst/>
          </a:prstGeom>
          <a:ln w="31750">
            <a:solidFill>
              <a:srgbClr val="087F8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617720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87F8C"/>
                </a:solidFill>
              </a:rPr>
              <a:t>QUÉ APORTA CADA MODALIDAD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956048"/>
            <a:ext cx="2514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73553"/>
                </a:solidFill>
              </a:rPr>
              <a:t>Voz</a:t>
            </a:r>
          </a:p>
          <a:p>
            <a:pPr algn="l"/>
            <a:r>
              <a:rPr sz="1200" b="0">
                <a:solidFill>
                  <a:srgbClr val="586A7B"/>
                </a:solidFill>
              </a:rPr>
              <a:t>Elimina el formulario: se explica lo que se quiere y se contestan preguntas.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956048"/>
            <a:ext cx="2514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73553"/>
                </a:solidFill>
              </a:rPr>
              <a:t>Documentos</a:t>
            </a:r>
          </a:p>
          <a:p>
            <a:pPr algn="l"/>
            <a:r>
              <a:rPr sz="1200" b="0">
                <a:solidFill>
                  <a:srgbClr val="586A7B"/>
                </a:solidFill>
              </a:rPr>
              <a:t>DFI, KID y fichas dan el riesgo oficial, los costes y los mínimos.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4956048"/>
            <a:ext cx="2514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73553"/>
                </a:solidFill>
              </a:rPr>
              <a:t>Series temporales</a:t>
            </a:r>
          </a:p>
          <a:p>
            <a:pPr algn="l"/>
            <a:r>
              <a:rPr sz="1200" b="0">
                <a:solidFill>
                  <a:srgbClr val="586A7B"/>
                </a:solidFill>
              </a:rPr>
              <a:t>Los precios diarios dicen cómo se mueven los fondos entre sí.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956048"/>
            <a:ext cx="2514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73553"/>
                </a:solidFill>
              </a:rPr>
              <a:t>Salida hablada y PDF</a:t>
            </a:r>
          </a:p>
          <a:p>
            <a:pPr algn="l"/>
            <a:r>
              <a:rPr sz="1200" b="0">
                <a:solidFill>
                  <a:srgbClr val="586A7B"/>
                </a:solidFill>
              </a:rPr>
              <a:t>Una explicación para el momento y un informe con gráficos para decidir después.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E733E2D5-9B4D-4D10-8594-61BCF6F9E473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173553"/>
                </a:solidFill>
              </a:defRPr>
            </a:defPPr>
          </a:lstStyle>
          <a:p>
            <a:pPr>
              <a:defRPr sz="2850" b="1">
                <a:solidFill>
                  <a:srgbClr val="173553"/>
                </a:solidFill>
              </a:defRPr>
            </a:pPr>
            <a:r>
              <a:rPr sz="2850" b="1">
                <a:solidFill>
                  <a:srgbClr val="173553"/>
                </a:solidFill>
              </a:rPr>
              <a:t>Experiencia del usuario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CD9CDAE-73B9-4C81-B012-0863427BC060}"/>
              </a:ext>
            </a:extLst>
          </p:cNvPr>
          <p:cNvSpPr>
            <a:spLocks noGrp="1"/>
          </p:cNvSpPr>
          <p:nvPr/>
        </p:nvSpPr>
        <p:spPr>
          <a:xfrm>
            <a:off x="10896600" y="6229350"/>
            <a:ext cx="609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586A7B"/>
                </a:solidFill>
              </a:defRPr>
            </a:defPPr>
          </a:lstStyle>
          <a:p>
            <a:pPr>
              <a:defRPr sz="1275" b="0">
                <a:solidFill>
                  <a:srgbClr val="586A7B"/>
                </a:solidFill>
              </a:defRPr>
            </a:pPr>
            <a:r>
              <a:rPr sz="1275" b="0">
                <a:solidFill>
                  <a:srgbClr val="586A7B"/>
                </a:solidFill>
              </a:rPr>
              <a:t>03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C1152FD-9B17-4CF0-951D-2A76D633E534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5429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0">
                <a:solidFill>
                  <a:srgbClr val="586A7B"/>
                </a:solidFill>
              </a:defRPr>
            </a:defPPr>
          </a:lstStyle>
          <a:p>
            <a:pPr>
              <a:defRPr sz="1725" b="0">
                <a:solidFill>
                  <a:srgbClr val="586A7B"/>
                </a:solidFill>
              </a:defRPr>
            </a:pPr>
            <a:r>
              <a:rPr sz="1725" b="0">
                <a:solidFill>
                  <a:srgbClr val="586A7B"/>
                </a:solidFill>
              </a:rPr>
              <a:t>1. Habla con la página, sin tocar nada más.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7CC357A-9EFA-47B7-B81F-89B6824CCF4D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5429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0">
                <a:solidFill>
                  <a:srgbClr val="586A7B"/>
                </a:solidFill>
              </a:defRPr>
            </a:defPPr>
          </a:lstStyle>
          <a:p>
            <a:pPr>
              <a:defRPr sz="1725" b="0">
                <a:solidFill>
                  <a:srgbClr val="586A7B"/>
                </a:solidFill>
              </a:defRPr>
            </a:pPr>
            <a:r>
              <a:rPr sz="1725" b="0">
                <a:solidFill>
                  <a:srgbClr val="586A7B"/>
                </a:solidFill>
              </a:rPr>
              <a:t>2. Responde a las preguntas de un asesor.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F2B4BDA-8CCC-4884-A775-D8C93EE3D450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5429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0">
                <a:solidFill>
                  <a:srgbClr val="586A7B"/>
                </a:solidFill>
              </a:defRPr>
            </a:defPPr>
          </a:lstStyle>
          <a:p>
            <a:pPr>
              <a:defRPr sz="1725" b="0">
                <a:solidFill>
                  <a:srgbClr val="586A7B"/>
                </a:solidFill>
              </a:defRPr>
            </a:pPr>
            <a:r>
              <a:rPr sz="1725" b="0">
                <a:solidFill>
                  <a:srgbClr val="586A7B"/>
                </a:solidFill>
              </a:rPr>
              <a:t>3. Recibe cartera, informe PDF y audio.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4E2C29A-4F84-42BE-8F33-DFE45A74634A}"/>
              </a:ext>
            </a:extLst>
          </p:cNvPr>
          <p:cNvSpPr>
            <a:spLocks noGrp="1"/>
          </p:cNvSpPr>
          <p:nvPr/>
        </p:nvSpPr>
        <p:spPr>
          <a:xfrm>
            <a:off x="685800" y="5181600"/>
            <a:ext cx="5334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087F8C"/>
                </a:solidFill>
              </a:defRPr>
            </a:defPPr>
          </a:lstStyle>
          <a:p>
            <a:pPr>
              <a:defRPr sz="1575" b="0">
                <a:solidFill>
                  <a:srgbClr val="087F8C"/>
                </a:solidFill>
              </a:defRPr>
            </a:pPr>
            <a:r>
              <a:rPr sz="1575" b="0">
                <a:solidFill>
                  <a:srgbClr val="087F8C"/>
                </a:solidFill>
              </a:rPr>
              <a:t>La captura usa diez fondos ficticios del repositorio.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5FEFEB5-26B1-455B-BEB6-95E84F9C4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48560" y="1371600"/>
            <a:ext cx="2838381" cy="481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004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3A109C85-A56A-409F-9B6F-14395B575951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173553"/>
                </a:solidFill>
              </a:defRPr>
            </a:defPPr>
          </a:lstStyle>
          <a:p>
            <a:pPr>
              <a:defRPr sz="2850" b="1">
                <a:solidFill>
                  <a:srgbClr val="173553"/>
                </a:solidFill>
              </a:defRPr>
            </a:pPr>
            <a:r>
              <a:rPr sz="2850" b="1">
                <a:solidFill>
                  <a:srgbClr val="173553"/>
                </a:solidFill>
              </a:rPr>
              <a:t>Arquitectura y orquestación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2B39DDB-C0E1-4D24-9EC5-CE5EAD8F2867}"/>
              </a:ext>
            </a:extLst>
          </p:cNvPr>
          <p:cNvSpPr>
            <a:spLocks noGrp="1"/>
          </p:cNvSpPr>
          <p:nvPr/>
        </p:nvSpPr>
        <p:spPr>
          <a:xfrm>
            <a:off x="10896600" y="6229350"/>
            <a:ext cx="609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586A7B"/>
                </a:solidFill>
              </a:defRPr>
            </a:defPPr>
          </a:lstStyle>
          <a:p>
            <a:pPr>
              <a:defRPr sz="1275" b="0">
                <a:solidFill>
                  <a:srgbClr val="586A7B"/>
                </a:solidFill>
              </a:defRPr>
            </a:pPr>
            <a:r>
              <a:rPr sz="1275" b="0">
                <a:solidFill>
                  <a:srgbClr val="586A7B"/>
                </a:solidFill>
              </a:rPr>
              <a:t>04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A1779F5-39D5-4053-9F09-84B05807E61B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905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625" b="1">
                <a:solidFill>
                  <a:srgbClr val="087F8C"/>
                </a:solidFill>
              </a:defRPr>
            </a:defPPr>
          </a:lstStyle>
          <a:p>
            <a:pPr>
              <a:defRPr sz="2625" b="1">
                <a:solidFill>
                  <a:srgbClr val="087F8C"/>
                </a:solidFill>
              </a:defRPr>
            </a:pPr>
            <a:r>
              <a:rPr sz="2625" b="1">
                <a:solidFill>
                  <a:srgbClr val="087F8C"/>
                </a:solidFill>
              </a:rPr>
              <a:t>01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09E8628-29E8-484B-913B-50CD0F7AD947}"/>
              </a:ext>
            </a:extLst>
          </p:cNvPr>
          <p:cNvSpPr>
            <a:spLocks noGrp="1"/>
          </p:cNvSpPr>
          <p:nvPr/>
        </p:nvSpPr>
        <p:spPr>
          <a:xfrm>
            <a:off x="685800" y="2514600"/>
            <a:ext cx="219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1">
                <a:solidFill>
                  <a:srgbClr val="173553"/>
                </a:solidFill>
              </a:defRPr>
            </a:defPPr>
          </a:lstStyle>
          <a:p>
            <a:pPr>
              <a:defRPr sz="2175" b="1">
                <a:solidFill>
                  <a:srgbClr val="173553"/>
                </a:solidFill>
              </a:defRPr>
            </a:pPr>
            <a:r>
              <a:rPr sz="2175" b="1">
                <a:solidFill>
                  <a:srgbClr val="173553"/>
                </a:solidFill>
              </a:rPr>
              <a:t>Entrada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0CBDEF9-1A68-4804-A574-438AB3221255}"/>
              </a:ext>
            </a:extLst>
          </p:cNvPr>
          <p:cNvSpPr>
            <a:spLocks noGrp="1"/>
          </p:cNvSpPr>
          <p:nvPr/>
        </p:nvSpPr>
        <p:spPr>
          <a:xfrm>
            <a:off x="685800" y="3219450"/>
            <a:ext cx="228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586A7B"/>
                </a:solidFill>
              </a:defRPr>
            </a:defPPr>
          </a:lstStyle>
          <a:p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Voz manos libres</a:t>
            </a:r>
          </a:p>
          <a:p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Whisper local; texto opcional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5376760-7887-401E-AA24-4AA7819C40F2}"/>
              </a:ext>
            </a:extLst>
          </p:cNvPr>
          <p:cNvSpPr>
            <a:spLocks noGrp="1"/>
          </p:cNvSpPr>
          <p:nvPr/>
        </p:nvSpPr>
        <p:spPr>
          <a:xfrm>
            <a:off x="3390900" y="1809750"/>
            <a:ext cx="1905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625" b="1">
                <a:solidFill>
                  <a:srgbClr val="087F8C"/>
                </a:solidFill>
              </a:defRPr>
            </a:defPPr>
          </a:lstStyle>
          <a:p>
            <a:pPr>
              <a:defRPr sz="2625" b="1">
                <a:solidFill>
                  <a:srgbClr val="087F8C"/>
                </a:solidFill>
              </a:defRPr>
            </a:pPr>
            <a:r>
              <a:rPr sz="2625" b="1">
                <a:solidFill>
                  <a:srgbClr val="087F8C"/>
                </a:solidFill>
              </a:rPr>
              <a:t>02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FB6529B-9B95-411A-ADD5-B1C05DA924E5}"/>
              </a:ext>
            </a:extLst>
          </p:cNvPr>
          <p:cNvSpPr>
            <a:spLocks noGrp="1"/>
          </p:cNvSpPr>
          <p:nvPr/>
        </p:nvSpPr>
        <p:spPr>
          <a:xfrm>
            <a:off x="3390900" y="2514600"/>
            <a:ext cx="219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1">
                <a:solidFill>
                  <a:srgbClr val="173553"/>
                </a:solidFill>
              </a:defRPr>
            </a:defPPr>
          </a:lstStyle>
          <a:p>
            <a:pPr>
              <a:defRPr sz="2175" b="1">
                <a:solidFill>
                  <a:srgbClr val="173553"/>
                </a:solidFill>
              </a:defRPr>
            </a:pPr>
            <a:r>
              <a:rPr sz="2175" b="1">
                <a:solidFill>
                  <a:srgbClr val="173553"/>
                </a:solidFill>
              </a:rPr>
              <a:t>Interpretación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405E1FF-F715-468D-83FE-EA53D765464F}"/>
              </a:ext>
            </a:extLst>
          </p:cNvPr>
          <p:cNvSpPr>
            <a:spLocks noGrp="1"/>
          </p:cNvSpPr>
          <p:nvPr/>
        </p:nvSpPr>
        <p:spPr>
          <a:xfrm>
            <a:off x="3390900" y="3219450"/>
            <a:ext cx="228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586A7B"/>
                </a:solidFill>
              </a:defRPr>
            </a:defPPr>
          </a:lstStyle>
          <a:p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Reglas locales</a:t>
            </a:r>
          </a:p>
          <a:p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Gemma 3 4B decide los criterios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E1CD5E0-66AD-4FA7-913F-6024D5DF44FF}"/>
              </a:ext>
            </a:extLst>
          </p:cNvPr>
          <p:cNvSpPr>
            <a:spLocks noGrp="1"/>
          </p:cNvSpPr>
          <p:nvPr/>
        </p:nvSpPr>
        <p:spPr>
          <a:xfrm>
            <a:off x="6096000" y="1809750"/>
            <a:ext cx="1905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625" b="1">
                <a:solidFill>
                  <a:srgbClr val="087F8C"/>
                </a:solidFill>
              </a:defRPr>
            </a:defPPr>
          </a:lstStyle>
          <a:p>
            <a:pPr>
              <a:defRPr sz="2625" b="1">
                <a:solidFill>
                  <a:srgbClr val="087F8C"/>
                </a:solidFill>
              </a:defRPr>
            </a:pPr>
            <a:r>
              <a:rPr sz="2625" b="1">
                <a:solidFill>
                  <a:srgbClr val="087F8C"/>
                </a:solidFill>
              </a:rPr>
              <a:t>03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10248FC-14EB-4B65-A9EF-B8EF129F1CF2}"/>
              </a:ext>
            </a:extLst>
          </p:cNvPr>
          <p:cNvSpPr>
            <a:spLocks noGrp="1"/>
          </p:cNvSpPr>
          <p:nvPr/>
        </p:nvSpPr>
        <p:spPr>
          <a:xfrm>
            <a:off x="6096000" y="2514600"/>
            <a:ext cx="219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1">
                <a:solidFill>
                  <a:srgbClr val="173553"/>
                </a:solidFill>
              </a:defRPr>
            </a:defPPr>
          </a:lstStyle>
          <a:p>
            <a:pPr>
              <a:defRPr sz="2175" b="1">
                <a:solidFill>
                  <a:srgbClr val="173553"/>
                </a:solidFill>
              </a:defRPr>
            </a:pPr>
            <a:r>
              <a:rPr sz="2175" b="1">
                <a:solidFill>
                  <a:srgbClr val="173553"/>
                </a:solidFill>
              </a:rPr>
              <a:t>Decisión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68B6609-EB48-4F00-987E-12754946A867}"/>
              </a:ext>
            </a:extLst>
          </p:cNvPr>
          <p:cNvSpPr>
            <a:spLocks noGrp="1"/>
          </p:cNvSpPr>
          <p:nvPr/>
        </p:nvSpPr>
        <p:spPr>
          <a:xfrm>
            <a:off x="6096000" y="3219450"/>
            <a:ext cx="228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586A7B"/>
                </a:solidFill>
              </a:defRPr>
            </a:defPPr>
          </a:lstStyle>
          <a:p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Filtros con folletos</a:t>
            </a:r>
          </a:p>
          <a:p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Gemma elige; se valida con datos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93EBBAA-12D8-4499-8540-BD89AC8A7CD5}"/>
              </a:ext>
            </a:extLst>
          </p:cNvPr>
          <p:cNvSpPr>
            <a:spLocks noGrp="1"/>
          </p:cNvSpPr>
          <p:nvPr/>
        </p:nvSpPr>
        <p:spPr>
          <a:xfrm>
            <a:off x="8801100" y="1809750"/>
            <a:ext cx="1905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625" b="1">
                <a:solidFill>
                  <a:srgbClr val="087F8C"/>
                </a:solidFill>
              </a:defRPr>
            </a:defPPr>
          </a:lstStyle>
          <a:p>
            <a:pPr>
              <a:defRPr sz="2625" b="1">
                <a:solidFill>
                  <a:srgbClr val="087F8C"/>
                </a:solidFill>
              </a:defRPr>
            </a:pPr>
            <a:r>
              <a:rPr sz="2625" b="1">
                <a:solidFill>
                  <a:srgbClr val="087F8C"/>
                </a:solidFill>
              </a:rPr>
              <a:t>04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C4271E4-3E1D-451B-A8CF-9A41D25F0577}"/>
              </a:ext>
            </a:extLst>
          </p:cNvPr>
          <p:cNvSpPr>
            <a:spLocks noGrp="1"/>
          </p:cNvSpPr>
          <p:nvPr/>
        </p:nvSpPr>
        <p:spPr>
          <a:xfrm>
            <a:off x="8801100" y="2514600"/>
            <a:ext cx="219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1">
                <a:solidFill>
                  <a:srgbClr val="173553"/>
                </a:solidFill>
              </a:defRPr>
            </a:defPPr>
          </a:lstStyle>
          <a:p>
            <a:pPr>
              <a:defRPr sz="2175" b="1">
                <a:solidFill>
                  <a:srgbClr val="173553"/>
                </a:solidFill>
              </a:defRPr>
            </a:pPr>
            <a:r>
              <a:rPr sz="2175" b="1">
                <a:solidFill>
                  <a:srgbClr val="173553"/>
                </a:solidFill>
              </a:rPr>
              <a:t>Salida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2919C56-93A8-49C6-A404-1A5B7006A185}"/>
              </a:ext>
            </a:extLst>
          </p:cNvPr>
          <p:cNvSpPr>
            <a:spLocks noGrp="1"/>
          </p:cNvSpPr>
          <p:nvPr/>
        </p:nvSpPr>
        <p:spPr>
          <a:xfrm>
            <a:off x="8801100" y="3219450"/>
            <a:ext cx="228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586A7B"/>
                </a:solidFill>
              </a:defRPr>
            </a:defPPr>
          </a:lstStyle>
          <a:p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PDF con gráficos</a:t>
            </a:r>
          </a:p>
          <a:p>
            <a:pPr>
              <a:defRPr sz="1575" b="0">
                <a:solidFill>
                  <a:srgbClr val="586A7B"/>
                </a:solidFill>
              </a:defRPr>
            </a:pPr>
            <a:r>
              <a:rPr sz="1575" b="0">
                <a:solidFill>
                  <a:srgbClr val="586A7B"/>
                </a:solidFill>
              </a:rPr>
              <a:t>Respuesta con voz neuronal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DDEF43E-9DA7-406B-AA53-19FF39026116}"/>
              </a:ext>
            </a:extLst>
          </p:cNvPr>
          <p:cNvSpPr>
            <a:spLocks noGrp="1"/>
          </p:cNvSpPr>
          <p:nvPr/>
        </p:nvSpPr>
        <p:spPr>
          <a:xfrm>
            <a:off x="704850" y="558165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173553"/>
                </a:solidFill>
              </a:defRPr>
            </a:defPPr>
          </a:lstStyle>
          <a:p>
            <a:pPr>
              <a:defRPr sz="1800" b="1">
                <a:solidFill>
                  <a:srgbClr val="173553"/>
                </a:solidFill>
              </a:defRPr>
            </a:pPr>
            <a:r>
              <a:rPr sz="1800" b="1">
                <a:solidFill>
                  <a:srgbClr val="173553"/>
                </a:solidFill>
              </a:rPr>
              <a:t>El modelo decide y elige; las cifras salen siempre de los datos.</a:t>
            </a:r>
          </a:p>
        </p:txBody>
      </p:sp>
    </p:spTree>
    <p:extLst>
      <p:ext uri="{BB962C8B-B14F-4D97-AF65-F5344CB8AC3E}">
        <p14:creationId xmlns:p14="http://schemas.microsoft.com/office/powerpoint/2010/main" val="95933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9436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>
                <a:solidFill>
                  <a:srgbClr val="173553"/>
                </a:solidFill>
              </a:rPr>
              <a:t>Cómo funciona: de la voz a la cartera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6272784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>
                <a:solidFill>
                  <a:srgbClr val="586A7B"/>
                </a:solidFill>
              </a:rPr>
              <a:t>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31720"/>
            <a:ext cx="1325880" cy="731520"/>
          </a:xfrm>
          <a:prstGeom prst="roundRect">
            <a:avLst>
              <a:gd name="adj" fmla="val 12500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Voz por micrófono</a:t>
            </a:r>
          </a:p>
          <a:p>
            <a:pPr algn="ctr"/>
            <a:r>
              <a:rPr sz="950" b="0">
                <a:solidFill>
                  <a:srgbClr val="173553"/>
                </a:solidFill>
              </a:rPr>
              <a:t>o texto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8568" y="2331720"/>
            <a:ext cx="1325880" cy="731520"/>
          </a:xfrm>
          <a:prstGeom prst="roundRect">
            <a:avLst>
              <a:gd name="adj" fmla="val 12500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Voz a texto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31335" y="2331720"/>
            <a:ext cx="1325880" cy="731520"/>
          </a:xfrm>
          <a:prstGeom prst="roundRect">
            <a:avLst>
              <a:gd name="adj" fmla="val 12500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Extraer</a:t>
            </a:r>
          </a:p>
          <a:p>
            <a:pPr algn="ctr"/>
            <a:r>
              <a:rPr sz="950" b="0">
                <a:solidFill>
                  <a:srgbClr val="173553"/>
                </a:solidFill>
              </a:rPr>
              <a:t>preferencias</a:t>
            </a:r>
          </a:p>
        </p:txBody>
      </p:sp>
      <p:sp>
        <p:nvSpPr>
          <p:cNvPr id="7" name="Diamond 6"/>
          <p:cNvSpPr/>
          <p:nvPr/>
        </p:nvSpPr>
        <p:spPr>
          <a:xfrm>
            <a:off x="5312664" y="2148839"/>
            <a:ext cx="1508760" cy="1097280"/>
          </a:xfrm>
          <a:prstGeom prst="diamond">
            <a:avLst/>
          </a:prstGeom>
          <a:solidFill>
            <a:srgbClr val="EEF0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¿Falta plazo,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riesgo o divisa?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6872" y="2331720"/>
            <a:ext cx="1325880" cy="731520"/>
          </a:xfrm>
          <a:prstGeom prst="roundRect">
            <a:avLst>
              <a:gd name="adj" fmla="val 12500"/>
            </a:avLst>
          </a:prstGeom>
          <a:solidFill>
            <a:srgbClr val="FBEFD9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Preguntas de asesor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objetivo, experiencia,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caídas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331720"/>
            <a:ext cx="1325880" cy="731520"/>
          </a:xfrm>
          <a:prstGeom prst="roundRect">
            <a:avLst>
              <a:gd name="adj" fmla="val 12500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El modelo elige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y reparte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una línea por grupo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22408" y="1874519"/>
            <a:ext cx="1325880" cy="731520"/>
          </a:xfrm>
          <a:prstGeom prst="roundRect">
            <a:avLst>
              <a:gd name="adj" fmla="val 12500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Resumen hablado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breve; detalle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si se pide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2408" y="2788920"/>
            <a:ext cx="1325880" cy="731520"/>
          </a:xfrm>
          <a:prstGeom prst="roundRect">
            <a:avLst>
              <a:gd name="adj" fmla="val 12500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Informe PDF</a:t>
            </a:r>
          </a:p>
          <a:p>
            <a:pPr algn="ctr"/>
            <a:r>
              <a:rPr sz="950" b="0">
                <a:solidFill>
                  <a:srgbClr val="173553"/>
                </a:solidFill>
              </a:rPr>
              <a:t>con gráficos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11680" y="2697479"/>
            <a:ext cx="246888" cy="0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584448" y="2697479"/>
            <a:ext cx="246887" cy="0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57216" y="2697479"/>
            <a:ext cx="155448" cy="0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21424" y="2697479"/>
            <a:ext cx="155448" cy="0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76188" y="2468879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586A7B"/>
                </a:solidFill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02752" y="2697479"/>
            <a:ext cx="246888" cy="0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9875519" y="2240279"/>
            <a:ext cx="246889" cy="457200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75519" y="2697479"/>
            <a:ext cx="246889" cy="457200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044951" y="1371600"/>
            <a:ext cx="1325880" cy="566928"/>
          </a:xfrm>
          <a:prstGeom prst="roundRect">
            <a:avLst>
              <a:gd name="adj" fmla="val 16129"/>
            </a:avLst>
          </a:prstGeom>
          <a:solidFill>
            <a:srgbClr val="FBEFD9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Pregunta hablada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6067044" y="1655064"/>
            <a:ext cx="0" cy="493775"/>
          </a:xfrm>
          <a:prstGeom prst="line">
            <a:avLst/>
          </a:prstGeom>
          <a:ln w="15875">
            <a:solidFill>
              <a:srgbClr val="586A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370831" y="1655064"/>
            <a:ext cx="1696213" cy="0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395977" y="1426464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586A7B"/>
                </a:solidFill>
              </a:rPr>
              <a:t>sí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348740" y="1655064"/>
            <a:ext cx="1696211" cy="0"/>
          </a:xfrm>
          <a:prstGeom prst="line">
            <a:avLst/>
          </a:prstGeom>
          <a:ln w="15875">
            <a:solidFill>
              <a:srgbClr val="586A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48740" y="1655064"/>
            <a:ext cx="0" cy="676656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04104" y="3977639"/>
            <a:ext cx="1325880" cy="731520"/>
          </a:xfrm>
          <a:prstGeom prst="roundRect">
            <a:avLst>
              <a:gd name="adj" fmla="val 12500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El modelo decide</a:t>
            </a:r>
          </a:p>
          <a:p>
            <a:pPr algn="ctr"/>
            <a:r>
              <a:rPr sz="950" b="0">
                <a:solidFill>
                  <a:srgbClr val="173553"/>
                </a:solidFill>
              </a:rPr>
              <a:t>los criterios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6872" y="3977639"/>
            <a:ext cx="1325880" cy="731520"/>
          </a:xfrm>
          <a:prstGeom prst="roundRect">
            <a:avLst>
              <a:gd name="adj" fmla="val 12500"/>
            </a:avLst>
          </a:prstGeom>
          <a:solidFill>
            <a:srgbClr val="EEF0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El código los aplica</a:t>
            </a:r>
          </a:p>
          <a:p>
            <a:pPr algn="ctr"/>
            <a:r>
              <a:rPr sz="950" b="0">
                <a:solidFill>
                  <a:srgbClr val="173553"/>
                </a:solidFill>
              </a:rPr>
              <a:t>a todo el catálogo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9640" y="3977639"/>
            <a:ext cx="1325880" cy="731520"/>
          </a:xfrm>
          <a:prstGeom prst="roundRect">
            <a:avLst>
              <a:gd name="adj" fmla="val 12500"/>
            </a:avLst>
          </a:prstGeom>
          <a:solidFill>
            <a:srgbClr val="EEF0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Histórico diario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caídas y grupos de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fondos parecidos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67044" y="3246120"/>
            <a:ext cx="0" cy="731519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831336" y="3401568"/>
            <a:ext cx="1508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586A7B"/>
                </a:solidFill>
              </a:rPr>
              <a:t>no: en segundo plano,</a:t>
            </a:r>
          </a:p>
          <a:p>
            <a:pPr algn="r"/>
            <a:r>
              <a:rPr sz="900" b="0">
                <a:solidFill>
                  <a:srgbClr val="586A7B"/>
                </a:solidFill>
              </a:rPr>
              <a:t>mientras se conversa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729984" y="4343400"/>
            <a:ext cx="246888" cy="0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302752" y="4343400"/>
            <a:ext cx="246888" cy="0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212580" y="3063239"/>
            <a:ext cx="0" cy="914400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Magnetic Disk 33"/>
          <p:cNvSpPr/>
          <p:nvPr/>
        </p:nvSpPr>
        <p:spPr>
          <a:xfrm>
            <a:off x="5404104" y="5257800"/>
            <a:ext cx="1325880" cy="640080"/>
          </a:xfrm>
          <a:prstGeom prst="flowChartMagneticDisk">
            <a:avLst/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92.257 fondos</a:t>
            </a:r>
          </a:p>
        </p:txBody>
      </p:sp>
      <p:sp>
        <p:nvSpPr>
          <p:cNvPr id="35" name="Magnetic Disk 34"/>
          <p:cNvSpPr/>
          <p:nvPr/>
        </p:nvSpPr>
        <p:spPr>
          <a:xfrm>
            <a:off x="6976872" y="5257800"/>
            <a:ext cx="1325880" cy="640080"/>
          </a:xfrm>
          <a:prstGeom prst="flowChartMagneticDisk">
            <a:avLst/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Folletos</a:t>
            </a:r>
          </a:p>
        </p:txBody>
      </p:sp>
      <p:sp>
        <p:nvSpPr>
          <p:cNvPr id="36" name="Magnetic Disk 35"/>
          <p:cNvSpPr/>
          <p:nvPr/>
        </p:nvSpPr>
        <p:spPr>
          <a:xfrm>
            <a:off x="8549640" y="5257800"/>
            <a:ext cx="1325880" cy="640080"/>
          </a:xfrm>
          <a:prstGeom prst="flowChartMagneticDisk">
            <a:avLst/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Precios diarios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6729984" y="4709159"/>
            <a:ext cx="475488" cy="731521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639812" y="4709159"/>
            <a:ext cx="0" cy="548641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212580" y="4709159"/>
            <a:ext cx="0" cy="548641"/>
          </a:xfrm>
          <a:prstGeom prst="line">
            <a:avLst/>
          </a:prstGeom>
          <a:ln w="15875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800" y="4069080"/>
            <a:ext cx="35661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73553"/>
                </a:solidFill>
              </a:rPr>
              <a:t>Lo que conviene retener</a:t>
            </a:r>
          </a:p>
          <a:p>
            <a:pPr algn="l"/>
            <a:r>
              <a:rPr sz="1150" b="0">
                <a:solidFill>
                  <a:srgbClr val="586A7B"/>
                </a:solidFill>
              </a:rPr>
              <a:t>El modelo decide criterios y elige; el código aplica los filtros a todos los fondos y valida la respuesta.</a:t>
            </a:r>
          </a:p>
          <a:p>
            <a:pPr algn="l"/>
            <a:r>
              <a:rPr sz="1150" b="0">
                <a:solidFill>
                  <a:srgbClr val="586A7B"/>
                </a:solidFill>
              </a:rPr>
              <a:t>Las cifras salen siempre de los datos, nunca del modelo.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30968" y="4069080"/>
            <a:ext cx="16002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6A7B"/>
                </a:solidFill>
              </a:rPr>
              <a:t>Folletos: riesgo oficial, costes y mínimos.</a:t>
            </a:r>
          </a:p>
          <a:p>
            <a:pPr algn="l"/>
            <a:r>
              <a:rPr sz="1000" b="0">
                <a:solidFill>
                  <a:srgbClr val="586A7B"/>
                </a:solidFill>
              </a:rPr>
              <a:t>Grupos: fondos con correlación semanal superior a 0,9.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9436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>
                <a:solidFill>
                  <a:srgbClr val="173553"/>
                </a:solidFill>
              </a:rPr>
              <a:t>Entradas, modelos y salidas · versión Especialistas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6272784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>
                <a:solidFill>
                  <a:srgbClr val="586A7B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53312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87F8C"/>
                </a:solidFill>
              </a:rPr>
              <a:t>ENTRADAS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13533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87F8C"/>
                </a:solidFill>
              </a:rPr>
              <a:t>MODELOS, EN CADENA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35331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87F8C"/>
                </a:solidFill>
              </a:rPr>
              <a:t>DE TEXTO A VOZ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135331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87F8C"/>
                </a:solidFill>
              </a:rPr>
              <a:t>SALIDAS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64208"/>
            <a:ext cx="2148840" cy="649224"/>
          </a:xfrm>
          <a:prstGeom prst="roundRect">
            <a:avLst>
              <a:gd name="adj" fmla="val 14084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Micrófono, manos libres</a:t>
            </a:r>
          </a:p>
          <a:p>
            <a:pPr algn="ctr"/>
            <a:r>
              <a:rPr sz="950" b="0">
                <a:solidFill>
                  <a:srgbClr val="173553"/>
                </a:solidFill>
              </a:rPr>
              <a:t>entrada principal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04872"/>
            <a:ext cx="2148840" cy="649224"/>
          </a:xfrm>
          <a:prstGeom prst="roundRect">
            <a:avLst>
              <a:gd name="adj" fmla="val 14084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Audio adjunto</a:t>
            </a:r>
          </a:p>
          <a:p>
            <a:pPr algn="ctr"/>
            <a:r>
              <a:rPr sz="950" b="0">
                <a:solidFill>
                  <a:srgbClr val="173553"/>
                </a:solidFill>
              </a:rPr>
              <a:t>wav, mp3, m4a, ogg…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145536"/>
            <a:ext cx="2148840" cy="649224"/>
          </a:xfrm>
          <a:prstGeom prst="roundRect">
            <a:avLst>
              <a:gd name="adj" fmla="val 14084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Texto escrito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886200"/>
            <a:ext cx="2148840" cy="649224"/>
          </a:xfrm>
          <a:prstGeom prst="roundRect">
            <a:avLst>
              <a:gd name="adj" fmla="val 14084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Folletos: DFI, KID, fichas</a:t>
            </a:r>
          </a:p>
          <a:p>
            <a:pPr algn="ctr"/>
            <a:r>
              <a:rPr sz="950" b="0">
                <a:solidFill>
                  <a:srgbClr val="173553"/>
                </a:solidFill>
              </a:rPr>
              <a:t>PDF y HTML, leídos con reglas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26864"/>
            <a:ext cx="2148840" cy="649224"/>
          </a:xfrm>
          <a:prstGeom prst="roundRect">
            <a:avLst>
              <a:gd name="adj" fmla="val 14084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Catálogo EODHD</a:t>
            </a:r>
          </a:p>
          <a:p>
            <a:pPr algn="ctr"/>
            <a:r>
              <a:rPr sz="950" b="0">
                <a:solidFill>
                  <a:srgbClr val="173553"/>
                </a:solidFill>
              </a:rPr>
              <a:t>92.257 fondos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367528"/>
            <a:ext cx="2148840" cy="649224"/>
          </a:xfrm>
          <a:prstGeom prst="roundRect">
            <a:avLst>
              <a:gd name="adj" fmla="val 14084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50" b="1">
                <a:solidFill>
                  <a:srgbClr val="173553"/>
                </a:solidFill>
              </a:rPr>
              <a:t>Histórico diario</a:t>
            </a:r>
          </a:p>
          <a:p>
            <a:pPr algn="ctr"/>
            <a:r>
              <a:rPr sz="950" b="0">
                <a:solidFill>
                  <a:srgbClr val="173553"/>
                </a:solidFill>
              </a:rPr>
              <a:t>Parquet, 317 millones de filas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664208"/>
            <a:ext cx="3246120" cy="649224"/>
          </a:xfrm>
          <a:prstGeom prst="roundRect">
            <a:avLst>
              <a:gd name="adj" fmla="val 14084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Voz a texto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Whisper large-v3-turbo (GPU) · small (CPU)</a:t>
            </a:r>
          </a:p>
          <a:p>
            <a:pPr algn="ctr"/>
            <a:r>
              <a:rPr sz="800" b="0">
                <a:solidFill>
                  <a:srgbClr val="586A7B"/>
                </a:solidFill>
              </a:rPr>
              <a:t>mejor: Parakeet TDT v3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404872"/>
            <a:ext cx="3246120" cy="649224"/>
          </a:xfrm>
          <a:prstGeom prst="roundRect">
            <a:avLst>
              <a:gd name="adj" fmla="val 14084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Extraer preferencias y preguntar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Reglas en español · opcional Gemma 3 4B</a:t>
            </a:r>
          </a:p>
          <a:p>
            <a:pPr algn="ctr"/>
            <a:r>
              <a:rPr sz="800" b="0">
                <a:solidFill>
                  <a:srgbClr val="586A7B"/>
                </a:solidFill>
              </a:rPr>
              <a:t>mejor: Gemma 3 12B o Claude Haiku 4.5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60620" y="2313432"/>
            <a:ext cx="0" cy="9144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37560" y="3145536"/>
            <a:ext cx="3246120" cy="649224"/>
          </a:xfrm>
          <a:prstGeom prst="roundRect">
            <a:avLst>
              <a:gd name="adj" fmla="val 14084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Decidir criterios de búsqueda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Gemma 3 4B en GPU</a:t>
            </a:r>
          </a:p>
          <a:p>
            <a:pPr algn="ctr"/>
            <a:r>
              <a:rPr sz="800" b="0">
                <a:solidFill>
                  <a:srgbClr val="586A7B"/>
                </a:solidFill>
              </a:rPr>
              <a:t>mejor: Gemma 3 12B o Claude Opus 5.5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60620" y="3054096"/>
            <a:ext cx="0" cy="9144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337560" y="3886200"/>
            <a:ext cx="3246120" cy="649224"/>
          </a:xfrm>
          <a:prstGeom prst="roundRect">
            <a:avLst>
              <a:gd name="adj" fmla="val 14084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Búsqueda semántica en folletos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MiniLM multilingüe en CPU</a:t>
            </a:r>
          </a:p>
          <a:p>
            <a:pPr algn="ctr"/>
            <a:r>
              <a:rPr sz="800" b="0">
                <a:solidFill>
                  <a:srgbClr val="586A7B"/>
                </a:solidFill>
              </a:rPr>
              <a:t>mejor: bge-m3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60620" y="3794760"/>
            <a:ext cx="0" cy="9144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37560" y="4626864"/>
            <a:ext cx="3246120" cy="649224"/>
          </a:xfrm>
          <a:prstGeom prst="roundRect">
            <a:avLst>
              <a:gd name="adj" fmla="val 14084"/>
            </a:avLst>
          </a:prstGeom>
          <a:solidFill>
            <a:srgbClr val="EEF0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Filtrar el catálogo, caídas y grupos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de fondos parecidos</a:t>
            </a:r>
          </a:p>
          <a:p>
            <a:pPr algn="ctr"/>
            <a:r>
              <a:rPr sz="800" b="0">
                <a:solidFill>
                  <a:srgbClr val="586A7B"/>
                </a:solidFill>
              </a:rPr>
              <a:t>sin modelo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60620" y="4535424"/>
            <a:ext cx="0" cy="9144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37560" y="5367528"/>
            <a:ext cx="3246120" cy="649224"/>
          </a:xfrm>
          <a:prstGeom prst="roundRect">
            <a:avLst>
              <a:gd name="adj" fmla="val 14084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Elegir y repartir, una línea por grupo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Gemma 3 4B en GPU · respaldo Gemma 3 1B (CPU)</a:t>
            </a:r>
          </a:p>
          <a:p>
            <a:pPr algn="ctr"/>
            <a:r>
              <a:rPr sz="800" b="0">
                <a:solidFill>
                  <a:srgbClr val="586A7B"/>
                </a:solidFill>
              </a:rPr>
              <a:t>mejor: Gemma 3 12B o Claude Opus 5.5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60620" y="5276088"/>
            <a:ext cx="0" cy="9144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834640" y="1988819"/>
            <a:ext cx="502920" cy="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834640" y="1988819"/>
            <a:ext cx="502920" cy="740665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834640" y="2729484"/>
            <a:ext cx="502920" cy="740664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834640" y="4210812"/>
            <a:ext cx="502920" cy="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4210812"/>
            <a:ext cx="502920" cy="740663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34640" y="4951475"/>
            <a:ext cx="502920" cy="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834640" y="4951475"/>
            <a:ext cx="502920" cy="740665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60920" y="1984248"/>
            <a:ext cx="2103120" cy="960120"/>
          </a:xfrm>
          <a:prstGeom prst="roundRect">
            <a:avLst>
              <a:gd name="adj" fmla="val 9523"/>
            </a:avLst>
          </a:prstGeom>
          <a:solidFill>
            <a:srgbClr val="EEF0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Redactar lo que se dice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plantillas con las cifras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de los datos</a:t>
            </a:r>
          </a:p>
          <a:p>
            <a:pPr algn="ctr"/>
            <a:r>
              <a:rPr sz="800" b="0">
                <a:solidFill>
                  <a:srgbClr val="586A7B"/>
                </a:solidFill>
              </a:rPr>
              <a:t>sin modelo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3328416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BEFD9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Texto a voz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es-ES-ElviraNeural con edge-tts,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en línea · respaldo: Piper en CPU</a:t>
            </a:r>
          </a:p>
          <a:p>
            <a:pPr algn="ctr"/>
            <a:r>
              <a:rPr sz="800" b="0">
                <a:solidFill>
                  <a:srgbClr val="586A7B"/>
                </a:solidFill>
              </a:rPr>
              <a:t>mejor local: Kokoro o XTTS-v2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0" y="2944368"/>
            <a:ext cx="0" cy="384048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583679" y="2350008"/>
            <a:ext cx="777241" cy="379476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149340" y="225628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586A7B"/>
                </a:solidFill>
              </a:rPr>
              <a:t>falta un dato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6583679" y="2761488"/>
            <a:ext cx="777241" cy="2820924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967727" y="4672583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6A7B"/>
                </a:solidFill>
              </a:rPr>
              <a:t>fondos y pesos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75520" y="2071573"/>
            <a:ext cx="1627632" cy="649224"/>
          </a:xfrm>
          <a:prstGeom prst="roundRect">
            <a:avLst>
              <a:gd name="adj" fmla="val 14084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Audio que suena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solo en el navegador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75520" y="3182569"/>
            <a:ext cx="1627632" cy="649224"/>
          </a:xfrm>
          <a:prstGeom prst="roundRect">
            <a:avLst>
              <a:gd name="adj" fmla="val 14084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Audio resumen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descargable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75520" y="4663897"/>
            <a:ext cx="1627632" cy="649224"/>
          </a:xfrm>
          <a:prstGeom prst="roundRect">
            <a:avLst>
              <a:gd name="adj" fmla="val 14084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Informe PDF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con gráficos (ReportLab)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75520" y="5367528"/>
            <a:ext cx="1627632" cy="649224"/>
          </a:xfrm>
          <a:prstGeom prst="roundRect">
            <a:avLst>
              <a:gd name="adj" fmla="val 14084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Tabla, perfil editable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y avisos en pantalla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9464040" y="2396185"/>
            <a:ext cx="411480" cy="1526591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464040" y="3507181"/>
            <a:ext cx="411480" cy="415595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583679" y="4988509"/>
            <a:ext cx="3291841" cy="703631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583679" y="5692140"/>
            <a:ext cx="3291841" cy="109728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132320" y="6254496"/>
            <a:ext cx="37490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6A7B"/>
                </a:solidFill>
              </a:rPr>
              <a:t>El histórico da también la evolución real y los escenarios del PDF.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6272784"/>
            <a:ext cx="201168" cy="164592"/>
          </a:xfrm>
          <a:prstGeom prst="roundRect">
            <a:avLst>
              <a:gd name="adj" fmla="val 50000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41832" y="624535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6A7B"/>
                </a:solidFill>
              </a:rPr>
              <a:t>Entrada o dato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176272" y="6272784"/>
            <a:ext cx="201168" cy="164592"/>
          </a:xfrm>
          <a:prstGeom prst="roundRect">
            <a:avLst>
              <a:gd name="adj" fmla="val 50000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432304" y="624535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6A7B"/>
                </a:solidFill>
              </a:rPr>
              <a:t>Modelo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118104" y="6272784"/>
            <a:ext cx="201168" cy="164592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374136" y="624535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6A7B"/>
                </a:solidFill>
              </a:rPr>
              <a:t>Código, sin modelo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82896" y="6272784"/>
            <a:ext cx="201168" cy="164592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138928" y="624535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6A7B"/>
                </a:solidFill>
              </a:rPr>
              <a:t>Texto a voz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67628" y="6272784"/>
            <a:ext cx="201168" cy="164592"/>
          </a:xfrm>
          <a:prstGeom prst="roundRect">
            <a:avLst>
              <a:gd name="adj" fmla="val 50000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23660" y="624535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6A7B"/>
                </a:solidFill>
              </a:rPr>
              <a:t>Salida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9436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>
                <a:solidFill>
                  <a:srgbClr val="173553"/>
                </a:solidFill>
              </a:rPr>
              <a:t>Entradas, modelos y salidas · versión Modelo único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6272784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>
                <a:solidFill>
                  <a:srgbClr val="586A7B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53312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87F8C"/>
                </a:solidFill>
              </a:rPr>
              <a:t>ENTRADAS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13533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87F8C"/>
                </a:solidFill>
              </a:rPr>
              <a:t>UN ÚNICO MODELO PARA 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35331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87F8C"/>
                </a:solidFill>
              </a:rPr>
              <a:t>DE TEXTO A VOZ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135331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87F8C"/>
                </a:solidFill>
              </a:rPr>
              <a:t>SALIDAS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64208"/>
            <a:ext cx="2148840" cy="552558"/>
          </a:xfrm>
          <a:prstGeom prst="roundRect">
            <a:avLst>
              <a:gd name="adj" fmla="val 16548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Micrófono, manos libres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99062"/>
            <a:ext cx="2148840" cy="552558"/>
          </a:xfrm>
          <a:prstGeom prst="roundRect">
            <a:avLst>
              <a:gd name="adj" fmla="val 16548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Audio adjunto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wav, mp3, flac, ogg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33917"/>
            <a:ext cx="2148840" cy="552558"/>
          </a:xfrm>
          <a:prstGeom prst="roundRect">
            <a:avLst>
              <a:gd name="adj" fmla="val 16548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Texto escrito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568772"/>
            <a:ext cx="2148840" cy="552558"/>
          </a:xfrm>
          <a:prstGeom prst="roundRect">
            <a:avLst>
              <a:gd name="adj" fmla="val 16548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Imagen · png, jpg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sin probar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03627"/>
            <a:ext cx="2148840" cy="552558"/>
          </a:xfrm>
          <a:prstGeom prst="roundRect">
            <a:avLst>
              <a:gd name="adj" fmla="val 16548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Folletos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38482"/>
            <a:ext cx="2148840" cy="552558"/>
          </a:xfrm>
          <a:prstGeom prst="roundRect">
            <a:avLst>
              <a:gd name="adj" fmla="val 16548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Catálogo EODHD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92.257 fondos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473337"/>
            <a:ext cx="2148840" cy="552558"/>
          </a:xfrm>
          <a:prstGeom prst="roundRect">
            <a:avLst>
              <a:gd name="adj" fmla="val 16548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Histórico diario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664208"/>
            <a:ext cx="3246120" cy="2274243"/>
          </a:xfrm>
          <a:prstGeom prst="roundRect">
            <a:avLst>
              <a:gd name="adj" fmla="val 4020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500" b="1">
                <a:solidFill>
                  <a:srgbClr val="173553"/>
                </a:solidFill>
              </a:rPr>
              <a:t>Gemma 3n E2B en GPU</a:t>
            </a:r>
          </a:p>
          <a:p>
            <a:pPr algn="ctr"/>
            <a:r>
              <a:rPr sz="1100" b="0">
                <a:solidFill>
                  <a:srgbClr val="173553"/>
                </a:solidFill>
              </a:rPr>
              <a:t>oír · entender · preguntar</a:t>
            </a:r>
          </a:p>
          <a:p>
            <a:pPr algn="ctr"/>
            <a:r>
              <a:rPr sz="1100" b="0">
                <a:solidFill>
                  <a:srgbClr val="173553"/>
                </a:solidFill>
              </a:rPr>
              <a:t>decidir criterios · elegir y repartir</a:t>
            </a:r>
          </a:p>
          <a:p>
            <a:pPr algn="ctr"/>
            <a:r>
              <a:rPr sz="900" b="0">
                <a:solidFill>
                  <a:srgbClr val="586A7B"/>
                </a:solidFill>
              </a:rPr>
              <a:t>mejor: Gemma 3n E4B o Gemini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4203627"/>
            <a:ext cx="3246120" cy="552558"/>
          </a:xfrm>
          <a:prstGeom prst="roundRect">
            <a:avLst>
              <a:gd name="adj" fmla="val 16548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Búsqueda semántica en folletos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MiniLM multilingüe en CPU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4929922"/>
            <a:ext cx="3246120" cy="1095973"/>
          </a:xfrm>
          <a:prstGeom prst="roundRect">
            <a:avLst>
              <a:gd name="adj" fmla="val 8343"/>
            </a:avLst>
          </a:prstGeom>
          <a:solidFill>
            <a:srgbClr val="EEF0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Filtrar el catálogo, caídas y grupos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de fondos parecidos</a:t>
            </a:r>
          </a:p>
          <a:p>
            <a:pPr algn="ctr"/>
            <a:r>
              <a:rPr sz="800" b="0">
                <a:solidFill>
                  <a:srgbClr val="586A7B"/>
                </a:solidFill>
              </a:rPr>
              <a:t>sin modelo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34640" y="1940487"/>
            <a:ext cx="502920" cy="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34640" y="2575342"/>
            <a:ext cx="502920" cy="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34640" y="3210197"/>
            <a:ext cx="502920" cy="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34640" y="3845052"/>
            <a:ext cx="502920" cy="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834640" y="4479906"/>
            <a:ext cx="502920" cy="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834640" y="4479906"/>
            <a:ext cx="502920" cy="770056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34640" y="5114761"/>
            <a:ext cx="502920" cy="363801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834640" y="5656217"/>
            <a:ext cx="502920" cy="93399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251960" y="3938451"/>
            <a:ext cx="0" cy="265176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325112" y="3993315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86A7B"/>
                </a:solidFill>
              </a:rPr>
              <a:t>criterios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251960" y="4756186"/>
            <a:ext cx="0" cy="173736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583679" y="5473337"/>
            <a:ext cx="201168" cy="0"/>
          </a:xfrm>
          <a:prstGeom prst="line">
            <a:avLst/>
          </a:prstGeom>
          <a:ln w="12700">
            <a:solidFill>
              <a:srgbClr val="586A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784847" y="3847011"/>
            <a:ext cx="0" cy="1626326"/>
          </a:xfrm>
          <a:prstGeom prst="line">
            <a:avLst/>
          </a:prstGeom>
          <a:ln w="12700">
            <a:solidFill>
              <a:srgbClr val="586A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583679" y="3847011"/>
            <a:ext cx="201168" cy="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7999" y="4747042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6A7B"/>
                </a:solidFill>
              </a:rPr>
              <a:t>una línea</a:t>
            </a:r>
          </a:p>
          <a:p>
            <a:pPr algn="l"/>
            <a:r>
              <a:rPr sz="900" b="0">
                <a:solidFill>
                  <a:srgbClr val="586A7B"/>
                </a:solidFill>
              </a:rPr>
              <a:t>por grupo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664208"/>
            <a:ext cx="2103120" cy="868680"/>
          </a:xfrm>
          <a:prstGeom prst="roundRect">
            <a:avLst>
              <a:gd name="adj" fmla="val 10526"/>
            </a:avLst>
          </a:prstGeom>
          <a:solidFill>
            <a:srgbClr val="EEF0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Redactar lo que se dice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plantillas con las cifras; las preguntas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de asesor las escribe Gemma 3n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20" y="2761488"/>
            <a:ext cx="2103120" cy="868680"/>
          </a:xfrm>
          <a:prstGeom prst="roundRect">
            <a:avLst>
              <a:gd name="adj" fmla="val 10526"/>
            </a:avLst>
          </a:prstGeom>
          <a:solidFill>
            <a:srgbClr val="FBEFD9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Texto a voz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es-ES-ElviraNeural (edge-tts)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respaldo: Piper, local en CPU</a:t>
            </a:r>
          </a:p>
          <a:p>
            <a:pPr algn="ctr"/>
            <a:r>
              <a:rPr sz="800" b="0">
                <a:solidFill>
                  <a:srgbClr val="586A7B"/>
                </a:solidFill>
              </a:rPr>
              <a:t>Gemma 3n no genera voz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79" y="2103120"/>
            <a:ext cx="777241" cy="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412480" y="2532888"/>
            <a:ext cx="0" cy="228600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875520" y="1847088"/>
            <a:ext cx="1627632" cy="649224"/>
          </a:xfrm>
          <a:prstGeom prst="roundRect">
            <a:avLst>
              <a:gd name="adj" fmla="val 14084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Audio que suena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solo en el navegador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0" y="2807208"/>
            <a:ext cx="1627632" cy="649224"/>
          </a:xfrm>
          <a:prstGeom prst="roundRect">
            <a:avLst>
              <a:gd name="adj" fmla="val 14084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Audio resumen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descargable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75520" y="4407408"/>
            <a:ext cx="1627632" cy="649224"/>
          </a:xfrm>
          <a:prstGeom prst="roundRect">
            <a:avLst>
              <a:gd name="adj" fmla="val 14084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Informe PDF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con gráficos (ReportLab)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75520" y="5276088"/>
            <a:ext cx="1627632" cy="649224"/>
          </a:xfrm>
          <a:prstGeom prst="roundRect">
            <a:avLst>
              <a:gd name="adj" fmla="val 14084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000" b="1">
                <a:solidFill>
                  <a:srgbClr val="173553"/>
                </a:solidFill>
              </a:rPr>
              <a:t>Tabla, perfil editable</a:t>
            </a:r>
          </a:p>
          <a:p>
            <a:pPr algn="ctr"/>
            <a:r>
              <a:rPr sz="900" b="0">
                <a:solidFill>
                  <a:srgbClr val="173553"/>
                </a:solidFill>
              </a:rPr>
              <a:t>y avisos en pantalla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9464040" y="2171700"/>
            <a:ext cx="411480" cy="1019556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9464040" y="3131820"/>
            <a:ext cx="411480" cy="59436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583679" y="3526971"/>
            <a:ext cx="3291841" cy="1205049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583679" y="3526971"/>
            <a:ext cx="3291841" cy="2073729"/>
          </a:xfrm>
          <a:prstGeom prst="line">
            <a:avLst/>
          </a:prstGeom>
          <a:ln w="12700">
            <a:solidFill>
              <a:srgbClr val="586A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132320" y="6254496"/>
            <a:ext cx="37490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6A7B"/>
                </a:solidFill>
              </a:rPr>
              <a:t>Datos, filtros, voz e informe: iguales que en Especialistas.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5800" y="6272784"/>
            <a:ext cx="201168" cy="164592"/>
          </a:xfrm>
          <a:prstGeom prst="roundRect">
            <a:avLst>
              <a:gd name="adj" fmla="val 50000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41832" y="624535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6A7B"/>
                </a:solidFill>
              </a:rPr>
              <a:t>Entrada o dato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76272" y="6272784"/>
            <a:ext cx="201168" cy="164592"/>
          </a:xfrm>
          <a:prstGeom prst="roundRect">
            <a:avLst>
              <a:gd name="adj" fmla="val 50000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432304" y="624535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6A7B"/>
                </a:solidFill>
              </a:rPr>
              <a:t>Modelo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18104" y="6272784"/>
            <a:ext cx="201168" cy="164592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74136" y="624535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6A7B"/>
                </a:solidFill>
              </a:rPr>
              <a:t>Código, sin modelo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82896" y="6272784"/>
            <a:ext cx="201168" cy="164592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138928" y="624535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6A7B"/>
                </a:solidFill>
              </a:rPr>
              <a:t>Texto a voz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67628" y="6272784"/>
            <a:ext cx="201168" cy="164592"/>
          </a:xfrm>
          <a:prstGeom prst="roundRect">
            <a:avLst>
              <a:gd name="adj" fmla="val 50000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423660" y="624535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6A7B"/>
                </a:solidFill>
              </a:rPr>
              <a:t>Salida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DEB6C645-B561-4DB2-9107-B638860E9A92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173553"/>
                </a:solidFill>
              </a:defRPr>
            </a:defPPr>
          </a:lstStyle>
          <a:p>
            <a:pPr>
              <a:defRPr sz="2850" b="1">
                <a:solidFill>
                  <a:srgbClr val="173553"/>
                </a:solidFill>
              </a:defRPr>
            </a:pPr>
            <a:r>
              <a:rPr sz="2850" b="1">
                <a:solidFill>
                  <a:srgbClr val="173553"/>
                </a:solidFill>
              </a:rPr>
              <a:t>Datos y criterio de selección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8B08955-7581-4AAA-BA65-911BF1FD08CD}"/>
              </a:ext>
            </a:extLst>
          </p:cNvPr>
          <p:cNvSpPr>
            <a:spLocks noGrp="1"/>
          </p:cNvSpPr>
          <p:nvPr/>
        </p:nvSpPr>
        <p:spPr>
          <a:xfrm>
            <a:off x="10896600" y="6229350"/>
            <a:ext cx="609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586A7B"/>
                </a:solidFill>
              </a:defRPr>
            </a:defPPr>
          </a:lstStyle>
          <a:p>
            <a:pPr>
              <a:defRPr sz="1275" b="0">
                <a:solidFill>
                  <a:srgbClr val="586A7B"/>
                </a:solidFill>
              </a:defRPr>
            </a:pPr>
            <a:r>
              <a:rPr sz="1275" b="0">
                <a:solidFill>
                  <a:srgbClr val="586A7B"/>
                </a:solidFill>
              </a:rPr>
              <a:t>08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5D45D59-9BD6-4532-A7EF-56CC56DEB7DD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4762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4650" b="1">
                <a:solidFill>
                  <a:srgbClr val="087F8C"/>
                </a:solidFill>
              </a:defRPr>
            </a:defPPr>
          </a:lstStyle>
          <a:p>
            <a:pPr>
              <a:defRPr sz="4650" b="1">
                <a:solidFill>
                  <a:srgbClr val="087F8C"/>
                </a:solidFill>
              </a:defRPr>
            </a:pPr>
            <a:r>
              <a:rPr sz="4650" b="1">
                <a:solidFill>
                  <a:srgbClr val="087F8C"/>
                </a:solidFill>
              </a:rPr>
              <a:t>92.257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C4C0A3C-3F00-499A-AC5F-99C2781E4FFC}"/>
              </a:ext>
            </a:extLst>
          </p:cNvPr>
          <p:cNvSpPr>
            <a:spLocks noGrp="1"/>
          </p:cNvSpPr>
          <p:nvPr/>
        </p:nvSpPr>
        <p:spPr>
          <a:xfrm>
            <a:off x="685800" y="2524125"/>
            <a:ext cx="4953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0">
                <a:solidFill>
                  <a:srgbClr val="586A7B"/>
                </a:solidFill>
              </a:defRPr>
            </a:defPPr>
          </a:lstStyle>
          <a:p>
            <a:pPr>
              <a:defRPr sz="1875" b="0">
                <a:solidFill>
                  <a:srgbClr val="586A7B"/>
                </a:solidFill>
              </a:defRPr>
            </a:pPr>
            <a:r>
              <a:rPr sz="1875" b="0">
                <a:solidFill>
                  <a:srgbClr val="586A7B"/>
                </a:solidFill>
              </a:rPr>
              <a:t>identificadores importados del catálogo privado EODHD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99B5DAC-B1E7-4C0B-9EDA-734FABF42B4C}"/>
              </a:ext>
            </a:extLst>
          </p:cNvPr>
          <p:cNvSpPr>
            <a:spLocks noGrp="1"/>
          </p:cNvSpPr>
          <p:nvPr/>
        </p:nvSpPr>
        <p:spPr>
          <a:xfrm>
            <a:off x="6362700" y="1524000"/>
            <a:ext cx="4000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4650" b="1">
                <a:solidFill>
                  <a:srgbClr val="087F8C"/>
                </a:solidFill>
              </a:defRPr>
            </a:defPPr>
          </a:lstStyle>
          <a:p>
            <a:pPr>
              <a:defRPr sz="4650" b="1">
                <a:solidFill>
                  <a:srgbClr val="087F8C"/>
                </a:solidFill>
              </a:defRPr>
            </a:pPr>
            <a:r>
              <a:rPr sz="4650" b="1">
                <a:solidFill>
                  <a:srgbClr val="087F8C"/>
                </a:solidFill>
              </a:rPr>
              <a:t>19.128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71696B0-F390-477D-8A6D-4FF0FA7BCB3E}"/>
              </a:ext>
            </a:extLst>
          </p:cNvPr>
          <p:cNvSpPr>
            <a:spLocks noGrp="1"/>
          </p:cNvSpPr>
          <p:nvPr/>
        </p:nvSpPr>
        <p:spPr>
          <a:xfrm>
            <a:off x="6362700" y="2524125"/>
            <a:ext cx="46672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0">
                <a:solidFill>
                  <a:srgbClr val="586A7B"/>
                </a:solidFill>
              </a:defRPr>
            </a:defPPr>
          </a:lstStyle>
          <a:p>
            <a:pPr>
              <a:defRPr sz="1875" b="0">
                <a:solidFill>
                  <a:srgbClr val="586A7B"/>
                </a:solidFill>
              </a:defRPr>
            </a:pPr>
            <a:r>
              <a:rPr sz="1875" b="0">
                <a:solidFill>
                  <a:srgbClr val="586A7B"/>
                </a:solidFill>
              </a:rPr>
              <a:t>fondos con folleto leído: riesgo oficial y costes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039D1A9-A292-422D-A2AA-4179BAF02714}"/>
              </a:ext>
            </a:extLst>
          </p:cNvPr>
          <p:cNvSpPr>
            <a:spLocks noGrp="1"/>
          </p:cNvSpPr>
          <p:nvPr/>
        </p:nvSpPr>
        <p:spPr>
          <a:xfrm>
            <a:off x="685800" y="4200525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250" b="1">
                <a:solidFill>
                  <a:srgbClr val="173553"/>
                </a:solidFill>
              </a:defRPr>
            </a:defPPr>
          </a:lstStyle>
          <a:p>
            <a:pPr>
              <a:defRPr sz="2250" b="1">
                <a:solidFill>
                  <a:srgbClr val="173553"/>
                </a:solidFill>
              </a:defRPr>
            </a:pPr>
            <a:r>
              <a:rPr sz="2250" b="1">
                <a:solidFill>
                  <a:srgbClr val="173553"/>
                </a:solidFill>
              </a:rPr>
              <a:t>Puntuación reproducible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C4D448E-BD96-4E5E-8C1A-88120E22F99E}"/>
              </a:ext>
            </a:extLst>
          </p:cNvPr>
          <p:cNvSpPr>
            <a:spLocks noGrp="1"/>
          </p:cNvSpPr>
          <p:nvPr/>
        </p:nvSpPr>
        <p:spPr>
          <a:xfrm>
            <a:off x="685800" y="4772025"/>
            <a:ext cx="10477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586A7B"/>
                </a:solidFill>
              </a:defRPr>
            </a:defPPr>
          </a:lstStyle>
          <a:p>
            <a:pPr>
              <a:defRPr sz="1650" b="0">
                <a:solidFill>
                  <a:srgbClr val="586A7B"/>
                </a:solidFill>
              </a:defRPr>
            </a:pPr>
            <a:r>
              <a:rPr sz="1650" b="0">
                <a:solidFill>
                  <a:srgbClr val="586A7B"/>
                </a:solidFill>
              </a:rPr>
              <a:t>Riesgo, Sharpe y rentabilidad, con los pesos que fija el modelo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83AAA70-DD57-4F8D-87B9-291086787287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47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586A7B"/>
                </a:solidFill>
              </a:defRPr>
            </a:defPPr>
          </a:lstStyle>
          <a:p>
            <a:pPr>
              <a:defRPr sz="1500" b="0">
                <a:solidFill>
                  <a:srgbClr val="586A7B"/>
                </a:solidFill>
              </a:defRPr>
            </a:pPr>
            <a:r>
              <a:rPr sz="1500" b="0">
                <a:solidFill>
                  <a:srgbClr val="586A7B"/>
                </a:solidFill>
              </a:rPr>
              <a:t>El histórico diario evita fondos duplicados y da la volatilidad y la caída real de la cartera.</a:t>
            </a:r>
          </a:p>
        </p:txBody>
      </p:sp>
    </p:spTree>
    <p:extLst>
      <p:ext uri="{BB962C8B-B14F-4D97-AF65-F5344CB8AC3E}">
        <p14:creationId xmlns:p14="http://schemas.microsoft.com/office/powerpoint/2010/main" val="26312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9436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>
                <a:solidFill>
                  <a:srgbClr val="173553"/>
                </a:solidFill>
              </a:rPr>
              <a:t>Latencia medida y coste de inferencia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6272784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>
                <a:solidFill>
                  <a:srgbClr val="586A7B"/>
                </a:solidFill>
              </a:rPr>
              <a:t>09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63040"/>
          <a:ext cx="713232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Paso</a:t>
                      </a:r>
                    </a:p>
                  </a:txBody>
                  <a:tcPr marT="36576" marB="36576" anchor="ctr">
                    <a:solidFill>
                      <a:srgbClr val="17355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 marT="36576" marB="36576" anchor="ctr">
                    <a:solidFill>
                      <a:srgbClr val="1735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Transcribir un turno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0,1 s en GPU · 1 s en CPU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Entender y preguntar (reglas)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menos de 1 s, más 1–2 s de voz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Decidir criterios (Gemma 3 4B)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unos 10 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Filtros, búsqueda semántica e histórico (hasta 2.000 candidatos)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4–6 s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Elegir y repartir (Gemma 3 4B)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unos 8 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Informe y voz del resumen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3–5 s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73553"/>
                          </a:solidFill>
                        </a:rPr>
                        <a:t>Propuesta completa, hecha de una vez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73553"/>
                          </a:solidFill>
                        </a:rPr>
                        <a:t>20–35 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73553"/>
                          </a:solidFill>
                        </a:rPr>
                        <a:t>Propuesta tras conversar por voz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73553"/>
                          </a:solidFill>
                        </a:rPr>
                        <a:t>unos 11 s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715000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86A7B"/>
                </a:solidFill>
              </a:rPr>
              <a:t>Medido en una RTX 5080 con los modelos ya cargados. Una conversación de tres turnos por voz dura unos 80 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46304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50" b="1">
                <a:solidFill>
                  <a:srgbClr val="087F8C"/>
                </a:solidFill>
              </a:rPr>
              <a:t>11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228600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86A7B"/>
                </a:solidFill>
              </a:rPr>
              <a:t>porque los criterios, los filtros y el histórico se adelantan en segundo plano mientras se conversa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342900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50" b="1">
                <a:solidFill>
                  <a:srgbClr val="087F8C"/>
                </a:solidFill>
              </a:rPr>
              <a:t>0 €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20624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86A7B"/>
                </a:solidFill>
              </a:rPr>
              <a:t>por petición: los modelos corren en local; el coste es el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983480"/>
            <a:ext cx="3200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73553"/>
                </a:solidFill>
              </a:rPr>
              <a:t>Referencia por API</a:t>
            </a:r>
          </a:p>
          <a:p>
            <a:pPr algn="l"/>
            <a:r>
              <a:rPr sz="1150" b="0">
                <a:solidFill>
                  <a:srgbClr val="586A7B"/>
                </a:solidFill>
              </a:rPr>
              <a:t>6.600 tokens de entrada y 300 de salida por propuesta: unos 0,03 USD con Claude Opus 5.5 (estimación, sin probar)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9436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>
                <a:solidFill>
                  <a:srgbClr val="173553"/>
                </a:solidFill>
              </a:rPr>
              <a:t>Comparación entre versiones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6272784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>
                <a:solidFill>
                  <a:srgbClr val="586A7B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789920" cy="2816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36576" marB="36576" anchor="ctr">
                    <a:solidFill>
                      <a:srgbClr val="17355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Especialistas</a:t>
                      </a:r>
                    </a:p>
                  </a:txBody>
                  <a:tcPr marT="36576" marB="36576" anchor="ctr">
                    <a:solidFill>
                      <a:srgbClr val="17355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Modelo único</a:t>
                      </a:r>
                    </a:p>
                  </a:txBody>
                  <a:tcPr marT="36576" marB="36576" anchor="ctr">
                    <a:solidFill>
                      <a:srgbClr val="1735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73553"/>
                          </a:solidFill>
                        </a:rPr>
                        <a:t>Voz a texto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Whisper large-v3-turbo (GPU) o small (CPU)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Gemma 3n E2B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73553"/>
                          </a:solidFill>
                        </a:rPr>
                        <a:t>Entender la petición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Reglas en español (Gemma 3 4B opcional)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Gemma 3n E2B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73553"/>
                          </a:solidFill>
                        </a:rPr>
                        <a:t>Qué preguntar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Preguntas fijas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Fijas las obligatorias; Gemma 3n redacta las de asesor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73553"/>
                          </a:solidFill>
                        </a:rPr>
                        <a:t>Criterios, elección y reparto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Gemma 3 4B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Gemma 3n E2B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73553"/>
                          </a:solidFill>
                        </a:rPr>
                        <a:t>Hablar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Voz neuronal en línea o Piper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La misma (Gemma 3n no genera voz)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73553"/>
                          </a:solidFill>
                        </a:rPr>
                        <a:t>Memoria de GPU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unos 6 GB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3553"/>
                          </a:solidFill>
                        </a:rPr>
                        <a:t>11 GB</a:t>
                      </a:r>
                    </a:p>
                  </a:txBody>
                  <a:tcPr marT="36576" marB="36576" anchor="ctr">
                    <a:solidFill>
                      <a:srgbClr val="EEF0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434840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87F8C"/>
                </a:solidFill>
              </a:rPr>
              <a:t>PRIMERA COMPARACIÓN · una sola conversación de tres turnos con voz sintética; no es una 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4800600"/>
            <a:ext cx="5257800" cy="1188720"/>
          </a:xfrm>
          <a:prstGeom prst="roundRect">
            <a:avLst>
              <a:gd name="adj" fmla="val 7692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/>
            <a:r>
              <a:rPr sz="1300" b="1">
                <a:solidFill>
                  <a:srgbClr val="173553"/>
                </a:solidFill>
              </a:rPr>
              <a:t>Especialistas</a:t>
            </a:r>
          </a:p>
          <a:p>
            <a:pPr algn="l"/>
            <a:r>
              <a:rPr sz="1150" b="0">
                <a:solidFill>
                  <a:srgbClr val="173553"/>
                </a:solidFill>
              </a:rPr>
              <a:t>Transcribió y extrajo bien los datos. Preguntas en 1–3 s y propuesta en unos 11 s tras conversar.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800600"/>
            <a:ext cx="5257800" cy="1188720"/>
          </a:xfrm>
          <a:prstGeom prst="roundRect">
            <a:avLst>
              <a:gd name="adj" fmla="val 7692"/>
            </a:avLst>
          </a:prstGeom>
          <a:solidFill>
            <a:srgbClr val="FBEFD9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/>
            <a:r>
              <a:rPr sz="1300" b="1">
                <a:solidFill>
                  <a:srgbClr val="173553"/>
                </a:solidFill>
              </a:rPr>
              <a:t>Modelo único</a:t>
            </a:r>
          </a:p>
          <a:p>
            <a:pPr algn="l"/>
            <a:r>
              <a:rPr sz="1150" b="0">
                <a:solidFill>
                  <a:srgbClr val="173553"/>
                </a:solidFill>
              </a:rPr>
              <a:t>No dedujo la divisa de «10.000 euros» e inventó datos (zona «global», «un solo fondo»). 14–32 s por turno. Sus preguntas suenan más naturales.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9436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>
                <a:solidFill>
                  <a:srgbClr val="173553"/>
                </a:solidFill>
              </a:rPr>
              <a:t>Normativa y modelo de negocio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91088" y="6272784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>
                <a:solidFill>
                  <a:srgbClr val="586A7B"/>
                </a:solidFill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508760"/>
            <a:ext cx="3429000" cy="548640"/>
          </a:xfrm>
          <a:prstGeom prst="roundRect">
            <a:avLst>
              <a:gd name="adj" fmla="val 16666"/>
            </a:avLst>
          </a:prstGeom>
          <a:solidFill>
            <a:srgbClr val="E3F2E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600" b="1">
                <a:solidFill>
                  <a:srgbClr val="173553"/>
                </a:solidFill>
              </a:rPr>
              <a:t>Público: B2B2C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33756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586A7B"/>
                </a:solidFill>
              </a:rPr>
              <a:t>El usuario es el asesor o el gestor de una entidad que ya tiene autorización y controles de idoneidad.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586A7B"/>
                </a:solidFill>
              </a:rPr>
              <a:t>El beneficiario es su cliente. No se plantea como servicio directo al público.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08760"/>
            <a:ext cx="3429000" cy="548640"/>
          </a:xfrm>
          <a:prstGeom prst="roundRect">
            <a:avLst>
              <a:gd name="adj" fmla="val 16666"/>
            </a:avLst>
          </a:prstGeom>
          <a:solidFill>
            <a:srgbClr val="E8EEF4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600" b="1">
                <a:solidFill>
                  <a:srgbClr val="173553"/>
                </a:solidFill>
              </a:rPr>
              <a:t>Normativa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286000"/>
            <a:ext cx="333756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586A7B"/>
                </a:solidFill>
              </a:rPr>
              <a:t>Proponer una cartera con pesos es asesoramiento: exige entidad autorizada, test de idoneidad (MiFID II) y documento de datos fundamentales (PRIIPs).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586A7B"/>
                </a:solidFill>
              </a:rPr>
              <a:t>La voz es un dato personal (RGPD): se transcribe en local y no se guarda.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508760"/>
            <a:ext cx="3429000" cy="548640"/>
          </a:xfrm>
          <a:prstGeom prst="roundRect">
            <a:avLst>
              <a:gd name="adj" fmla="val 16666"/>
            </a:avLst>
          </a:prstGeom>
          <a:solidFill>
            <a:srgbClr val="DDF1F2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600" b="1">
                <a:solidFill>
                  <a:srgbClr val="173553"/>
                </a:solidFill>
              </a:rPr>
              <a:t>Monetización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286000"/>
            <a:ext cx="333756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586A7B"/>
                </a:solidFill>
              </a:rPr>
              <a:t>Licencia por puesto de asesor o por oficina, instalada en la infraestructura de la entidad.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586A7B"/>
                </a:solidFill>
              </a:rPr>
              <a:t>Se cobra el tiempo de preparación de la reunión y la trazabilidad de la propuesta.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586A7B"/>
                </a:solidFill>
              </a:rPr>
              <a:t>Precios y disposición a pagar, sin validar.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892040"/>
            <a:ext cx="107442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B9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400" b="1">
                <a:solidFill>
                  <a:srgbClr val="173553"/>
                </a:solidFill>
              </a:rPr>
              <a:t>El MVP pregunta por objetivo, experiencia y tolerancia a pérdidas y baja el riesgo si no cuadran, pero eso no es un test de idoneidad.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384E938B-12E6-4F4F-99AD-952079672EED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173553"/>
                </a:solidFill>
              </a:defRPr>
            </a:defPPr>
          </a:lstStyle>
          <a:p>
            <a:pPr>
              <a:defRPr sz="2850" b="1">
                <a:solidFill>
                  <a:srgbClr val="173553"/>
                </a:solidFill>
              </a:defRPr>
            </a:pPr>
            <a:r>
              <a:rPr sz="2850" b="1">
                <a:solidFill>
                  <a:srgbClr val="173553"/>
                </a:solidFill>
              </a:rPr>
              <a:t>Viabilidad y límites del MVP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CACB719-1ACB-4018-B6C8-72C4060EC5E3}"/>
              </a:ext>
            </a:extLst>
          </p:cNvPr>
          <p:cNvSpPr>
            <a:spLocks noGrp="1"/>
          </p:cNvSpPr>
          <p:nvPr/>
        </p:nvSpPr>
        <p:spPr>
          <a:xfrm>
            <a:off x="10896600" y="6229350"/>
            <a:ext cx="609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586A7B"/>
                </a:solidFill>
              </a:defRPr>
            </a:defPPr>
          </a:lstStyle>
          <a:p>
            <a:pPr>
              <a:defRPr sz="1275" b="0">
                <a:solidFill>
                  <a:srgbClr val="586A7B"/>
                </a:solidFill>
              </a:defRPr>
            </a:pPr>
            <a:r>
              <a:rPr sz="1275" b="0">
                <a:solidFill>
                  <a:srgbClr val="586A7B"/>
                </a:solidFill>
              </a:rPr>
              <a:t>13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56AE9DE-25CE-4D19-BB97-1E868C036569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4762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250" b="1">
                <a:solidFill>
                  <a:srgbClr val="173553"/>
                </a:solidFill>
              </a:defRPr>
            </a:defPPr>
          </a:lstStyle>
          <a:p>
            <a:pPr>
              <a:defRPr sz="2250" b="1">
                <a:solidFill>
                  <a:srgbClr val="173553"/>
                </a:solidFill>
              </a:defRPr>
            </a:pPr>
            <a:r>
              <a:rPr sz="2250" b="1">
                <a:solidFill>
                  <a:srgbClr val="173553"/>
                </a:solidFill>
              </a:rPr>
              <a:t>Operación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6C4BE14-45C4-4012-AC5F-DA10B998FCF8}"/>
              </a:ext>
            </a:extLst>
          </p:cNvPr>
          <p:cNvSpPr>
            <a:spLocks noGrp="1"/>
          </p:cNvSpPr>
          <p:nvPr/>
        </p:nvSpPr>
        <p:spPr>
          <a:xfrm>
            <a:off x="685800" y="2181225"/>
            <a:ext cx="10191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586A7B"/>
                </a:solidFill>
              </a:defRPr>
            </a:defPPr>
          </a:lstStyle>
          <a:p>
            <a:pPr>
              <a:defRPr sz="1800" b="0">
                <a:solidFill>
                  <a:srgbClr val="586A7B"/>
                </a:solidFill>
              </a:defRPr>
            </a:pPr>
            <a:r>
              <a:rPr sz="1800" b="0">
                <a:solidFill>
                  <a:srgbClr val="586A7B"/>
                </a:solidFill>
              </a:rPr>
              <a:t>Modelos locales, sin coste por petición. Propuesta en 20–35 s con GPU (unos 11 s tras conversar); también funciona solo con CPU.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E584B40-A9D3-424F-80F9-523A5C3F5ACD}"/>
              </a:ext>
            </a:extLst>
          </p:cNvPr>
          <p:cNvSpPr>
            <a:spLocks noGrp="1"/>
          </p:cNvSpPr>
          <p:nvPr/>
        </p:nvSpPr>
        <p:spPr>
          <a:xfrm>
            <a:off x="685800" y="3476625"/>
            <a:ext cx="9048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250" b="1">
                <a:solidFill>
                  <a:srgbClr val="173553"/>
                </a:solidFill>
              </a:defRPr>
            </a:defPPr>
          </a:lstStyle>
          <a:p>
            <a:pPr>
              <a:defRPr sz="2250" b="1">
                <a:solidFill>
                  <a:srgbClr val="173553"/>
                </a:solidFill>
              </a:defRPr>
            </a:pPr>
            <a:r>
              <a:rPr sz="2250" b="1">
                <a:solidFill>
                  <a:srgbClr val="173553"/>
                </a:solidFill>
              </a:rPr>
              <a:t>Privacidad y derechos de datos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5D1C925-AD11-4976-809D-8B0019006168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10287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586A7B"/>
                </a:solidFill>
              </a:defRPr>
            </a:defPPr>
          </a:lstStyle>
          <a:p>
            <a:pPr>
              <a:defRPr sz="1800" b="0">
                <a:solidFill>
                  <a:srgbClr val="586A7B"/>
                </a:solidFill>
              </a:defRPr>
            </a:pPr>
            <a:r>
              <a:rPr sz="1800" b="0">
                <a:solidFill>
                  <a:srgbClr val="586A7B"/>
                </a:solidFill>
              </a:rPr>
              <a:t>Datos con licencia fuera de Git. La voz neuronal envía el texto a un tercero; con VOICE=local nada sale del equipo.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DC7C4DD-39C3-430C-A08F-832EF7A43A06}"/>
              </a:ext>
            </a:extLst>
          </p:cNvPr>
          <p:cNvSpPr>
            <a:spLocks noGrp="1"/>
          </p:cNvSpPr>
          <p:nvPr/>
        </p:nvSpPr>
        <p:spPr>
          <a:xfrm>
            <a:off x="685800" y="5391150"/>
            <a:ext cx="904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250" b="1">
                <a:solidFill>
                  <a:srgbClr val="173553"/>
                </a:solidFill>
              </a:defRPr>
            </a:defPPr>
          </a:lstStyle>
          <a:p>
            <a:pPr>
              <a:defRPr sz="2250" b="1">
                <a:solidFill>
                  <a:srgbClr val="173553"/>
                </a:solidFill>
              </a:defRPr>
            </a:pPr>
            <a:r>
              <a:rPr sz="2250" b="1">
                <a:solidFill>
                  <a:srgbClr val="173553"/>
                </a:solidFill>
              </a:rPr>
              <a:t>Siguiente validación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3174154-61CF-4CD8-956A-862B718297F8}"/>
              </a:ext>
            </a:extLst>
          </p:cNvPr>
          <p:cNvSpPr>
            <a:spLocks noGrp="1"/>
          </p:cNvSpPr>
          <p:nvPr/>
        </p:nvSpPr>
        <p:spPr>
          <a:xfrm>
            <a:off x="685800" y="59436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586A7B"/>
                </a:solidFill>
              </a:defRPr>
            </a:defPPr>
          </a:lstStyle>
          <a:p>
            <a:pPr>
              <a:defRPr sz="1650" b="0">
                <a:solidFill>
                  <a:srgbClr val="586A7B"/>
                </a:solidFill>
              </a:defRPr>
            </a:pPr>
            <a:r>
              <a:rPr sz="1650" b="0">
                <a:solidFill>
                  <a:srgbClr val="586A7B"/>
                </a:solidFill>
              </a:rPr>
              <a:t>Probar con voces reales y casos etiquetados. Revisar idoneidad MiFID II antes de clientes.</a:t>
            </a:r>
          </a:p>
        </p:txBody>
      </p:sp>
    </p:spTree>
    <p:extLst>
      <p:ext uri="{BB962C8B-B14F-4D97-AF65-F5344CB8AC3E}">
        <p14:creationId xmlns:p14="http://schemas.microsoft.com/office/powerpoint/2010/main" val="185360584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1728</Words>
  <Application>Microsoft Office PowerPoint</Application>
  <DocSecurity>0</DocSecurity>
  <PresentationFormat>Panorámica</PresentationFormat>
  <Paragraphs>297</Paragraphs>
  <Slides>12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4" baseType="lpstr">
      <vt:lpstr>Aptos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Josep Pérez Segura</cp:lastModifiedBy>
  <cp:revision>1</cp:revision>
  <dcterms:created xsi:type="dcterms:W3CDTF">2026-10-07T10:37:53Z</dcterms:created>
  <dcterms:modified xsi:type="dcterms:W3CDTF">2026-10-08T15:25:19Z</dcterms:modified>
</cp:coreProperties>
</file>