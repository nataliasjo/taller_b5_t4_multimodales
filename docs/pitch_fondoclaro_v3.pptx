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93e4e7b6104890" /><Relationship Type="http://schemas.openxmlformats.org/officeDocument/2006/relationships/extended-properties" Target="/docProps/app.xml" Id="Rb50914b961334030" /><Relationship Type="http://schemas.openxmlformats.org/officeDocument/2006/relationships/officeDocument" Target="/ppt/presentation.xml" Id="Rc4fc08afb81649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bec7a9d43344e1"/>
  </p:sldMasterIdLst>
  <p:notesMasterIdLst>
    <p:notesMasterId xmlns:r="http://schemas.openxmlformats.org/officeDocument/2006/relationships" r:id="Ra5cf8ac91b1c43d6"/>
  </p:notesMasterIdLst>
  <p:sldIdLst>
    <p:sldId xmlns:r="http://schemas.openxmlformats.org/officeDocument/2006/relationships" id="256" r:id="Rd18ecc065ed8407b"/>
    <p:sldId xmlns:r="http://schemas.openxmlformats.org/officeDocument/2006/relationships" id="257" r:id="R80d813ced99e49cd"/>
    <p:sldId xmlns:r="http://schemas.openxmlformats.org/officeDocument/2006/relationships" id="258" r:id="Rec6a05a0fb4e4cce"/>
    <p:sldId xmlns:r="http://schemas.openxmlformats.org/officeDocument/2006/relationships" id="259" r:id="R5a551670fd0b4cff"/>
    <p:sldId xmlns:r="http://schemas.openxmlformats.org/officeDocument/2006/relationships" id="260" r:id="R153b55c38f204db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527d5fd63740f2" /><Relationship Type="http://schemas.openxmlformats.org/officeDocument/2006/relationships/slideMaster" Target="/ppt/slideMasters/slideMaster1.xml" Id="Rbdbec7a9d43344e1" /><Relationship Type="http://schemas.openxmlformats.org/officeDocument/2006/relationships/notesMaster" Target="/ppt/notesMasters/notesMaster1.xml" Id="Ra5cf8ac91b1c43d6" /><Relationship Type="http://schemas.openxmlformats.org/officeDocument/2006/relationships/presProps" Target="/ppt/presProps.xml" Id="Re8dec280cc554e91" /><Relationship Type="http://schemas.openxmlformats.org/officeDocument/2006/relationships/tableStyles" Target="/ppt/tableStyles.xml" Id="R20b1ecd5d4274c1e" /><Relationship Type="http://schemas.openxmlformats.org/officeDocument/2006/relationships/slide" Target="/ppt/slides/slide1.xml" Id="Rd18ecc065ed8407b" /><Relationship Type="http://schemas.openxmlformats.org/officeDocument/2006/relationships/slide" Target="/ppt/slides/slide2.xml" Id="R80d813ced99e49cd" /><Relationship Type="http://schemas.openxmlformats.org/officeDocument/2006/relationships/slide" Target="/ppt/slides/slide3.xml" Id="Rec6a05a0fb4e4cce" /><Relationship Type="http://schemas.openxmlformats.org/officeDocument/2006/relationships/slide" Target="/ppt/slides/slide4.xml" Id="R5a551670fd0b4cff" /><Relationship Type="http://schemas.openxmlformats.org/officeDocument/2006/relationships/slide" Target="/ppt/slides/slide5.xml" Id="R153b55c38f204d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0be069fa5a48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e343cd68904212" /><Relationship Type="http://schemas.openxmlformats.org/officeDocument/2006/relationships/notesMaster" Target="/ppt/notesMasters/notesMaster1.xml" Id="Rbb03516dc02042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a67cef53fd46d6" /><Relationship Type="http://schemas.openxmlformats.org/officeDocument/2006/relationships/notesMaster" Target="/ppt/notesMasters/notesMaster1.xml" Id="R706cf9dafbdb404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a236163dec4a8c" /><Relationship Type="http://schemas.openxmlformats.org/officeDocument/2006/relationships/notesMaster" Target="/ppt/notesMasters/notesMaster1.xml" Id="Ra2b2d35de4ba41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a35221f00e406b" /><Relationship Type="http://schemas.openxmlformats.org/officeDocument/2006/relationships/notesMaster" Target="/ppt/notesMasters/notesMaster1.xml" Id="Rc609c32d088343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d43a414387446a" /><Relationship Type="http://schemas.openxmlformats.org/officeDocument/2006/relationships/notesMaster" Target="/ppt/notesMasters/notesMaster1.xml" Id="Rba950a3808024b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enunciado Taller_B5_T4.pdf y código del repositorio FondoClaro.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captura propia de app.py con data/demo_funds.csv. Los nombres, identificadores y cifras de la captura son sintéticos.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app.py, src/preferences.py, src/audio.py, src/recommender.py. El complemento de voz y el LLM son opcionales; el flujo textual funciona sin claves.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data/private/funds.csv generado localmente mediante scripts/import_catalog.py a partir del Markdown privado del equipo; data/demo_funds.csv; src/recommender.py. El dataset privado no se publica en GitHub.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README.md y enunciado Taller_B5_T4.pdf. Las afirmaciones de viabilidad son supuestos de MVP, no mediciones de producción. La regulación aplicable requiere revisión especializada antes de prestar asesoramiento.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36bedfae2a41a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8931c627d1436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49eb0be04d4e4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5d9aad726447b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c4a24f6826407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e53cdf40f645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21AB31-63E5-4895-BB05-F9252EE700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C35F104-C14C-4690-9616-2B192EBCE42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511BEEB-B7FC-48FA-97A7-94B5BB4BF8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5CF3845-B3DA-4BFE-A7FA-4832064940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C8B16DF-F540-4D83-8639-C96442E0B3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6A23E26-1E1F-4601-AACF-F99B3581E4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3122257-39C0-42A6-9A64-AD1EF05FB0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1ABE4EA-6FC4-4422-8B52-D392745DD86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ED4CC8-76E2-42C9-A440-3083F4824B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BD80A26-7EBA-41A1-9839-C4DF41E05F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18bedee5f140a6" /><Relationship Type="http://schemas.openxmlformats.org/officeDocument/2006/relationships/slideLayout" Target="/ppt/slideLayouts/slideLayout1.xml" Id="Ree888e8811764e33" /><Relationship Type="http://schemas.openxmlformats.org/officeDocument/2006/relationships/slideLayout" Target="/ppt/slideLayouts/slideLayout2.xml" Id="R5c0803d15c1040ef" /><Relationship Type="http://schemas.openxmlformats.org/officeDocument/2006/relationships/slideLayout" Target="/ppt/slideLayouts/slideLayout3.xml" Id="R5fa26424b2fd4798" /><Relationship Type="http://schemas.openxmlformats.org/officeDocument/2006/relationships/slideLayout" Target="/ppt/slideLayouts/slideLayout4.xml" Id="R0889aff3f6974c68" /><Relationship Type="http://schemas.openxmlformats.org/officeDocument/2006/relationships/slideLayout" Target="/ppt/slideLayouts/slideLayout5.xml" Id="Rbecf904b05c94112" /><Relationship Type="http://schemas.openxmlformats.org/officeDocument/2006/relationships/slideLayout" Target="/ppt/slideLayouts/slideLayout6.xml" Id="R74130f48684046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888e8811764e33"/>
    <p:sldLayoutId xmlns:r="http://schemas.openxmlformats.org/officeDocument/2006/relationships" id="2147483650" r:id="R5c0803d15c1040ef"/>
    <p:sldLayoutId xmlns:r="http://schemas.openxmlformats.org/officeDocument/2006/relationships" id="2147483651" r:id="R5fa26424b2fd4798"/>
    <p:sldLayoutId xmlns:r="http://schemas.openxmlformats.org/officeDocument/2006/relationships" id="2147483652" r:id="R0889aff3f6974c68"/>
    <p:sldLayoutId xmlns:r="http://schemas.openxmlformats.org/officeDocument/2006/relationships" id="2147483653" r:id="Rbecf904b05c94112"/>
    <p:sldLayoutId xmlns:r="http://schemas.openxmlformats.org/officeDocument/2006/relationships" id="2147483654" r:id="R74130f48684046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ae16561dfa4726" /><Relationship Type="http://schemas.openxmlformats.org/officeDocument/2006/relationships/notesSlide" Target="/ppt/notesSlides/notesSlide1.xml" Id="Rfccd939b74a24f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bfad86ee014bb4" /><Relationship Type="http://schemas.openxmlformats.org/officeDocument/2006/relationships/image" Target="/ppt/media/image.jpeg" Id="R8fb6d4092aed4591" /><Relationship Type="http://schemas.openxmlformats.org/officeDocument/2006/relationships/notesSlide" Target="/ppt/notesSlides/notesSlide2.xml" Id="R71a775488d2849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348848ce934167" /><Relationship Type="http://schemas.openxmlformats.org/officeDocument/2006/relationships/notesSlide" Target="/ppt/notesSlides/notesSlide3.xml" Id="R16a2e42d45034a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0d35b875bc45ea" /><Relationship Type="http://schemas.openxmlformats.org/officeDocument/2006/relationships/notesSlide" Target="/ppt/notesSlides/notesSlide4.xml" Id="Rd01792f062024f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3db2dc32514f7c" /><Relationship Type="http://schemas.openxmlformats.org/officeDocument/2006/relationships/notesSlide" Target="/ppt/notesSlides/notesSlide5.xml" Id="Rf818595c5ca24fc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9E1F1-0B99-453F-9CF0-8335FF9C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43050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200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173553"/>
                </a:solidFill>
              </a:defRPr>
            </a:pPr>
            <a:r>
              <a:rPr sz="4200" b="1">
                <a:solidFill>
                  <a:srgbClr val="173553"/>
                </a:solidFill>
              </a:rPr>
              <a:t>FondoClaro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0EA161-5445-4145-871B-8A96452E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0001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73553"/>
                </a:solidFill>
              </a:defRPr>
            </a:pPr>
            <a:r>
              <a:rPr sz="2550" b="0">
                <a:solidFill>
                  <a:srgbClr val="173553"/>
                </a:solidFill>
              </a:rPr>
              <a:t>Una conversación por voz, una cartera de fondos explicada y un informe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35A96-39AE-483C-880F-A26A8B51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86A7B"/>
                </a:solidFill>
              </a:defRPr>
            </a:pPr>
            <a:r>
              <a:rPr sz="1725" b="0">
                <a:solidFill>
                  <a:srgbClr val="586A7B"/>
                </a:solidFill>
              </a:rPr>
              <a:t>MVP multimodal · Taller B5-T4 · Octubre de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1BA37E-9D62-42BC-9891-FDA6454C7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86A7B"/>
                </a:solidFill>
              </a:defRPr>
            </a:pPr>
            <a:r>
              <a:rPr sz="1350" b="0">
                <a:solidFill>
                  <a:srgbClr val="586A7B"/>
                </a:solidFill>
              </a:rPr>
              <a:t>Demostración educativa. No constituye asesoramiento de inversión.</a:t>
            </a:r>
          </a:p>
        </p:txBody>
      </p:sp>
    </p:spTree>
    <p:extLst>
      <p:ext uri="{BB962C8B-B14F-4D97-AF65-F5344CB8AC3E}">
        <p14:creationId xmlns:p14="http://schemas.microsoft.com/office/powerpoint/2010/main" val="4779522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33E2D5-9B4D-4D10-8594-61BCF6F9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173553"/>
                </a:solidFill>
              </a:defRPr>
            </a:pPr>
            <a:r>
              <a:rPr sz="2850" b="1">
                <a:solidFill>
                  <a:srgbClr val="173553"/>
                </a:solidFill>
              </a:rPr>
              <a:t>Experiencia del usuario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D9CDAE-73B9-4C81-B012-0863427B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2935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86A7B"/>
                </a:solidFill>
              </a:defRPr>
            </a:pPr>
            <a:r>
              <a:rPr sz="1275" b="0">
                <a:solidFill>
                  <a:srgbClr val="586A7B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1152FD-9B17-4CF0-951D-2A76D633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542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86A7B"/>
                </a:solidFill>
              </a:defRPr>
            </a:pPr>
            <a:r>
              <a:rPr sz="1725" b="0">
                <a:solidFill>
                  <a:srgbClr val="586A7B"/>
                </a:solidFill>
              </a:rPr>
              <a:t>1. Habla con la página, sin tocar nada más.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C357A-9EFA-47B7-B81F-89B6824C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86A7B"/>
                </a:solidFill>
              </a:defRPr>
            </a:pPr>
            <a:r>
              <a:rPr sz="1725" b="0">
                <a:solidFill>
                  <a:srgbClr val="586A7B"/>
                </a:solidFill>
              </a:rPr>
              <a:t>2. Responde a las preguntas de un asesor.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B4BDA-8CCC-4884-A775-D8C93EE3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86A7B"/>
                </a:solidFill>
              </a:defRPr>
            </a:pPr>
            <a:r>
              <a:rPr sz="1725" b="0">
                <a:solidFill>
                  <a:srgbClr val="586A7B"/>
                </a:solidFill>
              </a:rPr>
              <a:t>3. Recibe cartera, informe PDF y audio.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2C29A-4F84-42BE-8F33-DFE45A74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087F8C"/>
                </a:solidFill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87F8C"/>
                </a:solidFill>
              </a:defRPr>
            </a:pPr>
            <a:r>
              <a:rPr sz="1575" b="0">
                <a:solidFill>
                  <a:srgbClr val="087F8C"/>
                </a:solidFill>
              </a:rPr>
              <a:t>La captura usa diez fondos ficticios del repositorio.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FEFEB5-26B1-455B-BEB6-95E84F9C45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b6d4092aed4591"/>
          <a:stretch xmlns:a="http://schemas.openxmlformats.org/drawingml/2006/main"/>
        </p:blipFill>
        <p:spPr>
          <a:xfrm xmlns:a="http://schemas.openxmlformats.org/drawingml/2006/main">
            <a:off x="7248560" y="1371600"/>
            <a:ext cx="2838381" cy="4810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0049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109C85-A56A-409F-9B6F-14395B57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173553"/>
                </a:solidFill>
              </a:defRPr>
            </a:pPr>
            <a:r>
              <a:rPr sz="2850" b="1">
                <a:solidFill>
                  <a:srgbClr val="173553"/>
                </a:solidFill>
              </a:rPr>
              <a:t>Arquitectura y orquestación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39DDB-C0E1-4D24-9EC5-CE5EAD8F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2935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86A7B"/>
                </a:solidFill>
              </a:defRPr>
            </a:pPr>
            <a:r>
              <a:rPr sz="1275" b="0">
                <a:solidFill>
                  <a:srgbClr val="586A7B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1779F5-39D5-4053-9F09-84B05807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90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087F8C"/>
                </a:solidFill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087F8C"/>
                </a:solidFill>
              </a:defRPr>
            </a:pPr>
            <a:r>
              <a:rPr sz="2625" b="1">
                <a:solidFill>
                  <a:srgbClr val="087F8C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9E8628-29E8-484B-913B-50CD0F7A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553"/>
                </a:solidFill>
              </a:defRPr>
            </a:pPr>
            <a:r>
              <a:rPr sz="2175" b="1">
                <a:solidFill>
                  <a:srgbClr val="173553"/>
                </a:solidFill>
              </a:rPr>
              <a:t>Entrada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CBDEF9-1A68-4804-A574-438AB322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28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Voz manos libres</a:t>
            </a:r>
          </a:p>
          <a:p xmlns:a="http://schemas.openxmlformats.org/drawingml/2006/main"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Whisper local; texto opcional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376760-7887-401E-AA24-4AA7819C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09750"/>
            <a:ext cx="190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087F8C"/>
                </a:solidFill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087F8C"/>
                </a:solidFill>
              </a:defRPr>
            </a:pPr>
            <a:r>
              <a:rPr sz="2625" b="1">
                <a:solidFill>
                  <a:srgbClr val="087F8C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6529B-9B95-411A-ADD5-B1C05DA9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146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553"/>
                </a:solidFill>
              </a:defRPr>
            </a:pPr>
            <a:r>
              <a:rPr sz="2175" b="1">
                <a:solidFill>
                  <a:srgbClr val="173553"/>
                </a:solidFill>
              </a:rPr>
              <a:t>Interpretación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05E1FF-F715-468D-83FE-EA53D765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19450"/>
            <a:ext cx="228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Reglas locales</a:t>
            </a:r>
          </a:p>
          <a:p xmlns:a="http://schemas.openxmlformats.org/drawingml/2006/main"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Gemma 3 4B decide los criterios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1CD5E0-66AD-4FA7-913F-6024D5DF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190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087F8C"/>
                </a:solidFill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087F8C"/>
                </a:solidFill>
              </a:defRPr>
            </a:pPr>
            <a:r>
              <a:rPr sz="2625" b="1">
                <a:solidFill>
                  <a:srgbClr val="087F8C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0248FC-14EB-4B65-A9EF-B8EF129F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146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553"/>
                </a:solidFill>
              </a:defRPr>
            </a:pPr>
            <a:r>
              <a:rPr sz="2175" b="1">
                <a:solidFill>
                  <a:srgbClr val="173553"/>
                </a:solidFill>
              </a:rPr>
              <a:t>Decisión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8B6609-EB48-4F00-987E-1275494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19450"/>
            <a:ext cx="228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Filtros con folletos</a:t>
            </a:r>
          </a:p>
          <a:p xmlns:a="http://schemas.openxmlformats.org/drawingml/2006/main"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Gemma elige; se valida con datos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3EBBAA-12D8-4499-8540-BD89AC8A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09750"/>
            <a:ext cx="190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087F8C"/>
                </a:solidFill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087F8C"/>
                </a:solidFill>
              </a:defRPr>
            </a:pPr>
            <a:r>
              <a:rPr sz="2625" b="1">
                <a:solidFill>
                  <a:srgbClr val="087F8C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271E4-3E1D-451B-A8CF-9A41D25F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5146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553"/>
                </a:solidFill>
              </a:defRPr>
            </a:pPr>
            <a:r>
              <a:rPr sz="2175" b="1">
                <a:solidFill>
                  <a:srgbClr val="173553"/>
                </a:solidFill>
              </a:rPr>
              <a:t>Salida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919C56-93A8-49C6-A404-1A5B7006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19450"/>
            <a:ext cx="228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PDF con gráficos</a:t>
            </a:r>
          </a:p>
          <a:p xmlns:a="http://schemas.openxmlformats.org/drawingml/2006/main"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Respuesta con voz neuronal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DEF43E-9DA7-406B-AA53-19FF3902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81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73553"/>
                </a:solidFill>
              </a:defRPr>
            </a:pPr>
            <a:r>
              <a:rPr sz="1800" b="1">
                <a:solidFill>
                  <a:srgbClr val="173553"/>
                </a:solidFill>
              </a:rPr>
              <a:t>El modelo decide y elige; las cifras salen siempre de los datos.</a:t>
            </a:r>
          </a:p>
        </p:txBody>
      </p:sp>
    </p:spTree>
    <p:extLst>
      <p:ext uri="{BB962C8B-B14F-4D97-AF65-F5344CB8AC3E}">
        <p14:creationId xmlns:p14="http://schemas.microsoft.com/office/powerpoint/2010/main" val="959335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6C645-B561-4DB2-9107-B638860E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173553"/>
                </a:solidFill>
              </a:defRPr>
            </a:pPr>
            <a:r>
              <a:rPr sz="2850" b="1">
                <a:solidFill>
                  <a:srgbClr val="173553"/>
                </a:solidFill>
              </a:rPr>
              <a:t>Datos y criterio de selección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08955-7581-4AAA-BA65-911BF1FD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2935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86A7B"/>
                </a:solidFill>
              </a:defRPr>
            </a:pPr>
            <a:r>
              <a:rPr sz="1275" b="0">
                <a:solidFill>
                  <a:srgbClr val="586A7B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D45D59-9BD6-4532-A7EF-56CC56DE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650" b="1">
                <a:solidFill>
                  <a:srgbClr val="087F8C"/>
                </a:solidFill>
              </a:defRPr>
            </a:defPPr>
          </a:lstStyle>
          <a:p xmlns:a="http://schemas.openxmlformats.org/drawingml/2006/main">
            <a:pPr>
              <a:defRPr sz="4650" b="1">
                <a:solidFill>
                  <a:srgbClr val="087F8C"/>
                </a:solidFill>
              </a:defRPr>
            </a:pPr>
            <a:r>
              <a:rPr sz="4650" b="1">
                <a:solidFill>
                  <a:srgbClr val="087F8C"/>
                </a:solidFill>
              </a:rPr>
              <a:t>92.257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4C0A3C-3F00-499A-AC5F-99C2781E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86A7B"/>
                </a:solidFill>
              </a:defRPr>
            </a:pPr>
            <a:r>
              <a:rPr sz="1875" b="0">
                <a:solidFill>
                  <a:srgbClr val="586A7B"/>
                </a:solidFill>
              </a:rPr>
              <a:t>identificadores importados del catálogo privado EODHD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9B5DAC-B1E7-4C0B-9EDA-734FABF4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24000"/>
            <a:ext cx="4000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650" b="1">
                <a:solidFill>
                  <a:srgbClr val="087F8C"/>
                </a:solidFill>
              </a:defRPr>
            </a:defPPr>
          </a:lstStyle>
          <a:p xmlns:a="http://schemas.openxmlformats.org/drawingml/2006/main">
            <a:pPr>
              <a:defRPr sz="4650" b="1">
                <a:solidFill>
                  <a:srgbClr val="087F8C"/>
                </a:solidFill>
              </a:defRPr>
            </a:pPr>
            <a:r>
              <a:rPr sz="4650" b="1">
                <a:solidFill>
                  <a:srgbClr val="087F8C"/>
                </a:solidFill>
              </a:rPr>
              <a:t>19.128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1696B0-F390-477D-8A6D-4FF0FA7B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24125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86A7B"/>
                </a:solidFill>
              </a:defRPr>
            </a:pPr>
            <a:r>
              <a:rPr sz="1875" b="0">
                <a:solidFill>
                  <a:srgbClr val="586A7B"/>
                </a:solidFill>
              </a:rPr>
              <a:t>fondos con folleto leído: riesgo oficial y costes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39D1A9-A292-422D-A2AA-4179BAF0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00525"/>
            <a:ext cx="1000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73553"/>
                </a:solidFill>
              </a:defRPr>
            </a:pPr>
            <a:r>
              <a:rPr sz="2250" b="1">
                <a:solidFill>
                  <a:srgbClr val="173553"/>
                </a:solidFill>
              </a:rPr>
              <a:t>Puntuación reproducible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D448E-BD96-4E5E-8C1A-88120E22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7202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86A7B"/>
                </a:solidFill>
              </a:defRPr>
            </a:pPr>
            <a:r>
              <a:rPr sz="1650" b="0">
                <a:solidFill>
                  <a:srgbClr val="586A7B"/>
                </a:solidFill>
              </a:rPr>
              <a:t>Riesgo, Sharpe y rentabilidad, con los pesos que fija el modelo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3AAA70-DD57-4F8D-87B9-29108678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86A7B"/>
                </a:solidFill>
              </a:defRPr>
            </a:pPr>
            <a:r>
              <a:rPr sz="1500" b="0">
                <a:solidFill>
                  <a:srgbClr val="586A7B"/>
                </a:solidFill>
              </a:rPr>
              <a:t>El histórico diario evita fondos duplicados y da la volatilidad y la caída real de la cartera.</a:t>
            </a:r>
          </a:p>
        </p:txBody>
      </p:sp>
    </p:spTree>
    <p:extLst>
      <p:ext uri="{BB962C8B-B14F-4D97-AF65-F5344CB8AC3E}">
        <p14:creationId xmlns:p14="http://schemas.microsoft.com/office/powerpoint/2010/main" val="263120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4E938B-12E6-4F4F-99AD-95207967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173553"/>
                </a:solidFill>
              </a:defRPr>
            </a:pPr>
            <a:r>
              <a:rPr sz="2850" b="1">
                <a:solidFill>
                  <a:srgbClr val="173553"/>
                </a:solidFill>
              </a:rPr>
              <a:t>Viabilidad y límites del MVP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ACB719-1ACB-4018-B6C8-72C4060E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2935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86A7B"/>
                </a:solidFill>
              </a:defRPr>
            </a:pPr>
            <a:r>
              <a:rPr sz="1275" b="0">
                <a:solidFill>
                  <a:srgbClr val="586A7B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6AE9DE-25CE-4D19-BB97-1E868C03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73553"/>
                </a:solidFill>
              </a:defRPr>
            </a:pPr>
            <a:r>
              <a:rPr sz="2250" b="1">
                <a:solidFill>
                  <a:srgbClr val="173553"/>
                </a:solidFill>
              </a:rPr>
              <a:t>Operación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C4BE14-45C4-4012-AC5F-DA10B998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86A7B"/>
                </a:solidFill>
              </a:defRPr>
            </a:pPr>
            <a:r>
              <a:rPr sz="1800" b="0">
                <a:solidFill>
                  <a:srgbClr val="586A7B"/>
                </a:solidFill>
              </a:rPr>
              <a:t>Modelos locales, sin coste por petición. Propuesta en 25–45 s con GPU; también funciona solo con CPU.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584B40-A9D3-424F-80F9-523A5C3F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904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73553"/>
                </a:solidFill>
              </a:defRPr>
            </a:pPr>
            <a:r>
              <a:rPr sz="2250" b="1">
                <a:solidFill>
                  <a:srgbClr val="173553"/>
                </a:solidFill>
              </a:rPr>
              <a:t>Privacidad y derechos de datos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D1C925-AD11-4976-809D-8B001900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86A7B"/>
                </a:solidFill>
              </a:defRPr>
            </a:pPr>
            <a:r>
              <a:rPr sz="1800" b="0">
                <a:solidFill>
                  <a:srgbClr val="586A7B"/>
                </a:solidFill>
              </a:rPr>
              <a:t>Datos con licencia fuera de Git. La voz neuronal envía el texto a un tercero; con VOICE=local nada sale del equipo.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C7C4DD-39C3-430C-A08F-832EF7A4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3553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73553"/>
                </a:solidFill>
              </a:defRPr>
            </a:pPr>
            <a:r>
              <a:rPr sz="2250" b="1">
                <a:solidFill>
                  <a:srgbClr val="173553"/>
                </a:solidFill>
              </a:rPr>
              <a:t>Siguiente validación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74154-61CF-4CD8-956A-862B7182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6A7B"/>
                </a:solidFill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86A7B"/>
                </a:solidFill>
              </a:defRPr>
            </a:pPr>
            <a:r>
              <a:rPr sz="1650" b="0">
                <a:solidFill>
                  <a:srgbClr val="586A7B"/>
                </a:solidFill>
              </a:rPr>
              <a:t>Probar con voces reales y casos etiquetados. Revisar idoneidad MiFID II antes de clientes.</a:t>
            </a:r>
          </a:p>
        </p:txBody>
      </p:sp>
    </p:spTree>
    <p:extLst>
      <p:ext uri="{BB962C8B-B14F-4D97-AF65-F5344CB8AC3E}">
        <p14:creationId xmlns:p14="http://schemas.microsoft.com/office/powerpoint/2010/main" val="18536058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2026-10-07T10:37:53.2620000Z</dcterms:created>
  <dcterms:modified xsi:type="dcterms:W3CDTF">2026-10-07T10:37:53.2620000Z</dcterms:modified>
</coreProperties>
</file>